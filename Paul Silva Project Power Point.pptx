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45648" autoAdjust="0"/>
  </p:normalViewPr>
  <p:slideViewPr>
    <p:cSldViewPr snapToGrid="0">
      <p:cViewPr>
        <p:scale>
          <a:sx n="88" d="100"/>
          <a:sy n="88" d="100"/>
        </p:scale>
        <p:origin x="3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Silva" userId="f6871dd4fab7d080" providerId="LiveId" clId="{C772A8F1-7020-4EB6-8A75-C64FF0B8D2C6}"/>
    <pc:docChg chg="modSld">
      <pc:chgData name="Paul Silva" userId="f6871dd4fab7d080" providerId="LiveId" clId="{C772A8F1-7020-4EB6-8A75-C64FF0B8D2C6}" dt="2026-10-18T15:43:33.975" v="1" actId="20577"/>
      <pc:docMkLst>
        <pc:docMk/>
      </pc:docMkLst>
      <pc:sldChg chg="modNotesTx">
        <pc:chgData name="Paul Silva" userId="f6871dd4fab7d080" providerId="LiveId" clId="{C772A8F1-7020-4EB6-8A75-C64FF0B8D2C6}" dt="2026-10-18T15:43:33.975" v="1" actId="20577"/>
        <pc:sldMkLst>
          <pc:docMk/>
          <pc:sldMk cId="858133409"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C6500F-8680-4515-9CDB-72262F5EB4E4}"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59E46-BD59-4952-9B6A-61F7749F123F}" type="slidenum">
              <a:rPr lang="en-US" smtClean="0"/>
              <a:t>‹#›</a:t>
            </a:fld>
            <a:endParaRPr lang="en-US"/>
          </a:p>
        </p:txBody>
      </p:sp>
    </p:spTree>
    <p:extLst>
      <p:ext uri="{BB962C8B-B14F-4D97-AF65-F5344CB8AC3E}">
        <p14:creationId xmlns:p14="http://schemas.microsoft.com/office/powerpoint/2010/main" val="1133923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Leadership decision: expand Scrum through a measured pilot rather than mandate it for every project. Image: Photo by Katarzyna </a:t>
            </a:r>
            <a:r>
              <a:rPr dirty="0" err="1"/>
              <a:t>Zygnerska</a:t>
            </a:r>
            <a:r>
              <a:rPr dirty="0"/>
              <a:t> on </a:t>
            </a:r>
            <a:r>
              <a:rPr dirty="0" err="1"/>
              <a:t>Unsplash</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Scrum defines three accountabilities. The project names Brian as tester, but Scrum includes testing specialists within Developers. Amanda represents SNHU Travel as a stakeholder. Product Owner availability matters when deciding what wellness content provides value.</a:t>
            </a:r>
          </a:p>
          <a:p>
            <a:endParaRPr dirty="0"/>
          </a:p>
          <a:p>
            <a:r>
              <a:rPr dirty="0"/>
              <a:t>Rahman, J. (2023, January 11). Uncovering the Product Owner role. Scrum.org. https://www.scrum.org/resources/blog/uncovering-product-owner-role</a:t>
            </a:r>
          </a:p>
          <a:p>
            <a:r>
              <a:rPr dirty="0"/>
              <a:t>Schwaber, K., &amp; Sutherland, J. (2020, November). The Scrum guide: The definitive guide to Scrum: The rules of the game. https://scrumguides.org/scrum-guide.html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SDLC phases remain important in Agile, but teams revisit and overlap them for small increments. They are not separate, required Scrum events. SNHU Travel examples include the charter, focus-group-based price and preference stories, and the revised slideshow interaction. These artifacts represent different stages of learning.</a:t>
            </a:r>
          </a:p>
          <a:p>
            <a:endParaRPr/>
          </a:p>
          <a:p>
            <a:r>
              <a:t>Jackson, G., Holdsworth, J., &amp; Kosinski, M. (n.d.). What is the software development life cycle (SDLC)? IBM. https://www.ibm.com/think/topics/sdlc</a:t>
            </a:r>
          </a:p>
          <a:p>
            <a:r>
              <a:t>Rahman, J. (2023, January 11). Uncovering the Product Owner role. Scrum.org. https://www.scrum.org/resources/blog/uncovering-product-owner-role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The Java source contains wellness images and descriptions and synchronized Previous/Next handlers. Tests should verify these together. The workbook describes filtering and profile behavior, but the slideshow source does not establish that those broader features are implemented. Repeated delivery requires engineering discipline and regression testing.</a:t>
            </a:r>
          </a:p>
          <a:p>
            <a:endParaRPr/>
          </a:p>
          <a:p>
            <a:r>
              <a:t>Jackson, G., Holdsworth, J., &amp; Kosinski, M. (n.d.). What is the software development life cycle (SDLC)? IBM. https://www.ibm.com/think/topics/sdlc</a:t>
            </a:r>
          </a:p>
          <a:p>
            <a:r>
              <a:t>Ripley, R. (2024, September 23). Scrum is hard and disruptive #11: Scrum is harder than waterfall. Scrum.org. https://www.scrum.org/resources/blog/scrum-hard-and-disruptive-11-scrum-harder-waterfall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A shared board can help Developers identify who needs assistance and arrange follow-up discussions after the Daily Scrum. Avoid turning it into a management status report. Excel stories and test cases provided organization in the project work. Jira and Confluence were proposed improvements, rather than tools documented as used.</a:t>
            </a:r>
          </a:p>
          <a:p>
            <a:endParaRPr/>
          </a:p>
          <a:p>
            <a:r>
              <a:t>Schwaber, K., &amp; Sutherland, J. (2020, November). The Scrum guide: The definitive guide to Scrum: The rules of the game. https://scrumguides.org/scrum-guide.html</a:t>
            </a:r>
          </a:p>
          <a:p>
            <a:r>
              <a:t>Strombeck, O. (2023, November 30). Navigating the Scrum events: Daily Scrum. Scrum.org. https://www.scrum.org/resources/blog/navigating-scrum-events-daily-scrum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The Module Five sample email asks Christy to confirm unchanged navigation and wellness content and asks Brian which tests need revision. The Java source includes Sedona, Bali, Costa Rica, Switzerland, and Thailand. The communication journal also records image and text-pane adjustments. This is evidence of a targeted interface/content increment, rather than completion of every booking 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Waterfall generally organizes work in sequential stages with stronger upfront planning. A wellness change after design approval would require assessing documentation, implementation, dependencies, schedule, and verification impacts. Waterfall can accommodate change, but often through explicit control and rebaselining. Scrum also controls change: the team should protect the Sprint Goal and clarify scope with the Product Owner. This comparison applies the sources to the project scenario.</a:t>
            </a:r>
          </a:p>
          <a:p>
            <a:endParaRPr/>
          </a:p>
          <a:p>
            <a:r>
              <a:t>Madaan, K. (2024, April 30). Waterfall-ish playbook: How Jira Align helps traditional projects and portfolios succeed. Atlassian. https://www.atlassian.com/blog/jira-align/bringing-agility-to-project-mgmt</a:t>
            </a:r>
          </a:p>
          <a:p>
            <a:r>
              <a:t>Ripley, R. (2024, September 23). Scrum is hard and disruptive #11: Scrum is harder than waterfall. Scrum.org. https://www.scrum.org/resources/blog/scrum-hard-and-disruptive-11-scrum-harder-waterfall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Method choice also depends on contractual approval requirements, compliance evidence, and the cost of revisiting work. Compliance can coexist with Agile when evidence is built into delivery. For SNHU Travel, changed content and interface expectations favor iteration, but clear acceptance criteria remain necessary. These are decision factors and project-based analysis, rather than claims that one method always wins.</a:t>
            </a:r>
          </a:p>
          <a:p>
            <a:endParaRPr/>
          </a:p>
          <a:p>
            <a:r>
              <a:t>Madaan, K. (2024, April 30). Waterfall-ish playbook: How Jira Align helps traditional projects and portfolios succeed. Atlassian. https://www.atlassian.com/blog/jira-align/bringing-agility-to-project-mgmt</a:t>
            </a:r>
          </a:p>
          <a:p>
            <a:r>
              <a:t>Rahman, J. (2023, January 11). Uncovering the Product Owner role. Scrum.org. https://www.scrum.org/resources/blog/uncovering-product-owner-role</a:t>
            </a:r>
          </a:p>
          <a:p>
            <a:r>
              <a:t>Ripley, R. (2024, September 23). Scrum is hard and disruptive #11: Scrum is harder than waterfall. Scrum.org. https://www.scrum.org/resources/blog/scrum-hard-and-disruptive-11-scrum-harder-waterfall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is a conditional recommendation. No measured productivity improvement or production launch is claimed. Leadership should invest in the engineering practices needed for frequent increments and review pilot outcomes before choosing an organization-wide approach.</a:t>
            </a:r>
          </a:p>
          <a:p>
            <a:endParaRPr/>
          </a:p>
          <a:p>
            <a:r>
              <a:t>Ripley, R. (2024, September 23). Scrum is hard and disruptive #11: Scrum is harder than waterfall. Scrum.org. https://www.scrum.org/resources/blog/scrum-hard-and-disruptive-11-scrum-harder-waterfall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References are alphabetized across the two reference slides. Madaan and Rahman are dated professional sources within five years of the October 2026 assignment. IBM provides supplementary SDLC context and is cited as undated.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Ripley and Strombeck complete the minimum of four dated professional sources from 2023–2024. The official Scrum Guide supplies an additional foundational reference and does not count toward that recent-source minimum.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FAD84-A5D6-D35C-81FF-C0AD427F13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1AB418-DFE5-4C99-5B15-61A6FFDCD6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08779A-9834-4B7C-AFAF-2B8F30EDA318}"/>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5" name="Footer Placeholder 4">
            <a:extLst>
              <a:ext uri="{FF2B5EF4-FFF2-40B4-BE49-F238E27FC236}">
                <a16:creationId xmlns:a16="http://schemas.microsoft.com/office/drawing/2014/main" id="{10478147-DCC5-B948-1B03-DF6BB3BB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8C22AA-CB2A-B6B8-B07B-1824D43718D2}"/>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347728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9757D-66FE-9807-8532-ED4ED7997E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285763-9724-72A7-2887-D857A77285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41F5E-2E05-673D-EE08-1C182C315A24}"/>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5" name="Footer Placeholder 4">
            <a:extLst>
              <a:ext uri="{FF2B5EF4-FFF2-40B4-BE49-F238E27FC236}">
                <a16:creationId xmlns:a16="http://schemas.microsoft.com/office/drawing/2014/main" id="{E115CC10-C34C-629B-8934-4FFB19939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62CF68-D0D0-5147-A8EE-6FE64C9EDA12}"/>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1714100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BB32-8FA6-10DD-BA38-0824CA3125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F7E8F4-51E1-034E-4551-3F2702CEFF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465528-CB41-10DD-6F75-EB1C840E3182}"/>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5" name="Footer Placeholder 4">
            <a:extLst>
              <a:ext uri="{FF2B5EF4-FFF2-40B4-BE49-F238E27FC236}">
                <a16:creationId xmlns:a16="http://schemas.microsoft.com/office/drawing/2014/main" id="{0D4D8E6D-C119-5B5E-EA38-2808DF7B9C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A0628A-B0A3-0F89-0453-C9D2D45D8B47}"/>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1120457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53BB6-995D-9B96-7B24-4F6235B9FE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4B25FB-BD52-5E79-4DCF-DE97E4EB87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D207DD-9F6E-1AF9-2227-203A6DA21A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5A46ED-4997-B4C7-4DCB-72AA0DB34C64}"/>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6" name="Footer Placeholder 5">
            <a:extLst>
              <a:ext uri="{FF2B5EF4-FFF2-40B4-BE49-F238E27FC236}">
                <a16:creationId xmlns:a16="http://schemas.microsoft.com/office/drawing/2014/main" id="{1F39D159-20C6-4516-2521-4291F5245F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D83372-0FC1-F7BD-CB17-B961E9C7824F}"/>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4255747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7189D-6342-09AE-649A-42D32710FA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9A83D3-5074-2FC2-5F55-FBF25A98D8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BF2481-95AD-9540-00FC-F5A649F57E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8208FC-7485-F73D-AC47-C5D9229A53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1360C4-C59F-0B19-C37E-CF782BB1D9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E64FD2-E2A6-9026-7582-48996EDC9901}"/>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8" name="Footer Placeholder 7">
            <a:extLst>
              <a:ext uri="{FF2B5EF4-FFF2-40B4-BE49-F238E27FC236}">
                <a16:creationId xmlns:a16="http://schemas.microsoft.com/office/drawing/2014/main" id="{B1CF4861-825B-5B45-CAC8-965C015E4F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63EBD8-7418-2E03-0FCA-A279B80790B8}"/>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1760139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8A80-A487-C28F-AA71-6B2A76AC0D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6AAE5B-4110-BA81-0847-B82515C01956}"/>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4" name="Footer Placeholder 3">
            <a:extLst>
              <a:ext uri="{FF2B5EF4-FFF2-40B4-BE49-F238E27FC236}">
                <a16:creationId xmlns:a16="http://schemas.microsoft.com/office/drawing/2014/main" id="{66C917DE-1DB6-887C-4716-E9CF46C190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2C57BE-2D9A-51EA-8A82-E00E6A2BCBA4}"/>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1673672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7EA0A-E197-5A6C-E820-CF1D01504DC6}"/>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3" name="Footer Placeholder 2">
            <a:extLst>
              <a:ext uri="{FF2B5EF4-FFF2-40B4-BE49-F238E27FC236}">
                <a16:creationId xmlns:a16="http://schemas.microsoft.com/office/drawing/2014/main" id="{0DD88257-BD81-A4A1-7B7B-EB32E95EFD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2B6C40-61B1-59D2-C5C5-86EBEB6499CB}"/>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330214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B0FE6-DC96-5880-592E-7B89252FD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AE1FB-6CAB-D139-97A8-3CBCF3D12D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0B0F01-7695-C802-E23D-8805643B57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7CEDF-9715-EBD0-2A7D-E3153CEBD4DE}"/>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6" name="Footer Placeholder 5">
            <a:extLst>
              <a:ext uri="{FF2B5EF4-FFF2-40B4-BE49-F238E27FC236}">
                <a16:creationId xmlns:a16="http://schemas.microsoft.com/office/drawing/2014/main" id="{C3D7B3BF-FEDB-B824-84C9-BD7F4C5062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D7886B-4735-02B1-4A8B-DE1622C1C1B4}"/>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2338751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26427-A3C7-8AA1-61BC-C295A4B5B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F966C0-F048-FF14-3FA8-55D08A34D5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45517E-6443-4FEC-0F4B-512819EA5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BCD61B-A2DA-EC56-5B9B-E68001ED1871}"/>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6" name="Footer Placeholder 5">
            <a:extLst>
              <a:ext uri="{FF2B5EF4-FFF2-40B4-BE49-F238E27FC236}">
                <a16:creationId xmlns:a16="http://schemas.microsoft.com/office/drawing/2014/main" id="{EA37FBEA-21D0-B9AE-16EE-93F3A708F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D54E99-A014-18F2-2DDA-C0D17867C207}"/>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2460850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7E50F-4E9A-0DDC-C62F-62BA2B6FF1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D93C45-36A2-49F9-AE4F-43F30026FF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57206-23BA-C2BB-E1F6-3950C965C0E4}"/>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5" name="Footer Placeholder 4">
            <a:extLst>
              <a:ext uri="{FF2B5EF4-FFF2-40B4-BE49-F238E27FC236}">
                <a16:creationId xmlns:a16="http://schemas.microsoft.com/office/drawing/2014/main" id="{767C1ABA-35F5-8AD6-9590-F667FD43C8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1D195E-BBCD-7961-F307-9D8E28405AE2}"/>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2027392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9A14B9-5274-A9D0-2A9C-9C9525B278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18E390-8A11-75ED-AEF0-C806AC8C45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FD641A-6C1B-B18F-C2FC-69B6902B2EF0}"/>
              </a:ext>
            </a:extLst>
          </p:cNvPr>
          <p:cNvSpPr>
            <a:spLocks noGrp="1"/>
          </p:cNvSpPr>
          <p:nvPr>
            <p:ph type="dt" sz="half" idx="10"/>
          </p:nvPr>
        </p:nvSpPr>
        <p:spPr/>
        <p:txBody>
          <a:bodyPr/>
          <a:lstStyle/>
          <a:p>
            <a:fld id="{DA7C650F-BAAB-4414-B6BF-1228E0E9B9F8}" type="datetimeFigureOut">
              <a:rPr lang="en-US" smtClean="0"/>
              <a:t>10/18/2026</a:t>
            </a:fld>
            <a:endParaRPr lang="en-US"/>
          </a:p>
        </p:txBody>
      </p:sp>
      <p:sp>
        <p:nvSpPr>
          <p:cNvPr id="5" name="Footer Placeholder 4">
            <a:extLst>
              <a:ext uri="{FF2B5EF4-FFF2-40B4-BE49-F238E27FC236}">
                <a16:creationId xmlns:a16="http://schemas.microsoft.com/office/drawing/2014/main" id="{4B31FDB3-200B-0EAB-D526-2AC74BF0F5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B91F5-E36F-6057-A2BE-3B56D45AC6A0}"/>
              </a:ext>
            </a:extLst>
          </p:cNvPr>
          <p:cNvSpPr>
            <a:spLocks noGrp="1"/>
          </p:cNvSpPr>
          <p:nvPr>
            <p:ph type="sldNum" sz="quarter" idx="12"/>
          </p:nvPr>
        </p:nvSpPr>
        <p:spPr/>
        <p:txBody>
          <a:bodyPr/>
          <a:lstStyle/>
          <a:p>
            <a:fld id="{68F9DE0D-7577-44E8-9D17-AEFE458D1500}" type="slidenum">
              <a:rPr lang="en-US" smtClean="0"/>
              <a:t>‹#›</a:t>
            </a:fld>
            <a:endParaRPr lang="en-US"/>
          </a:p>
        </p:txBody>
      </p:sp>
    </p:spTree>
    <p:extLst>
      <p:ext uri="{BB962C8B-B14F-4D97-AF65-F5344CB8AC3E}">
        <p14:creationId xmlns:p14="http://schemas.microsoft.com/office/powerpoint/2010/main" val="126966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22255F-C8B5-1262-3B48-D79BB86F46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46ABB2-945D-181E-4523-1B823D8FCD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722DC-48E2-A060-0515-522FBD3645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7C650F-BAAB-4414-B6BF-1228E0E9B9F8}" type="datetimeFigureOut">
              <a:rPr lang="en-US" smtClean="0"/>
              <a:t>10/18/2026</a:t>
            </a:fld>
            <a:endParaRPr lang="en-US"/>
          </a:p>
        </p:txBody>
      </p:sp>
      <p:sp>
        <p:nvSpPr>
          <p:cNvPr id="5" name="Footer Placeholder 4">
            <a:extLst>
              <a:ext uri="{FF2B5EF4-FFF2-40B4-BE49-F238E27FC236}">
                <a16:creationId xmlns:a16="http://schemas.microsoft.com/office/drawing/2014/main" id="{682A27F2-5D3C-F50F-8452-879EC8EEC0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D675F2-719A-8BE2-B1DA-7AC86CB331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F9DE0D-7577-44E8-9D17-AEFE458D1500}" type="slidenum">
              <a:rPr lang="en-US" smtClean="0"/>
              <a:t>‹#›</a:t>
            </a:fld>
            <a:endParaRPr lang="en-US"/>
          </a:p>
        </p:txBody>
      </p:sp>
    </p:spTree>
    <p:extLst>
      <p:ext uri="{BB962C8B-B14F-4D97-AF65-F5344CB8AC3E}">
        <p14:creationId xmlns:p14="http://schemas.microsoft.com/office/powerpoint/2010/main" val="1440313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8161E5-993F-E287-7AFB-83069A4B99E5}"/>
              </a:ext>
            </a:extLst>
          </p:cNvPr>
          <p:cNvSpPr/>
          <p:nvPr/>
        </p:nvSpPr>
        <p:spPr>
          <a:xfrm>
            <a:off x="0" y="0"/>
            <a:ext cx="7715250" cy="6858000"/>
          </a:xfrm>
          <a:prstGeom prst="rect">
            <a:avLst/>
          </a:prstGeom>
          <a:solidFill>
            <a:schemeClr val="accent1">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 name="text-0">
            <a:extLst>
              <a:ext uri="{FF2B5EF4-FFF2-40B4-BE49-F238E27FC236}">
                <a16:creationId xmlns:a16="http://schemas.microsoft.com/office/drawing/2014/main" id="{2CEED350-3787-4D8B-8D5A-F915BAE75273}"/>
              </a:ext>
            </a:extLst>
          </p:cNvPr>
          <p:cNvSpPr>
            <a:spLocks noGrp="1"/>
          </p:cNvSpPr>
          <p:nvPr/>
        </p:nvSpPr>
        <p:spPr>
          <a:xfrm>
            <a:off x="609600" y="1333500"/>
            <a:ext cx="6286500" cy="1619250"/>
          </a:xfrm>
          <a:prstGeom prst="rect">
            <a:avLst/>
          </a:prstGeom>
          <a:noFill/>
          <a:ln w="0">
            <a:noFill/>
            <a:prstDash val="solid"/>
          </a:ln>
        </p:spPr>
        <p:txBody>
          <a:bodyPr lIns="0" tIns="0" rIns="0" bIns="0"/>
          <a:lstStyle>
            <a:defPPr>
              <a:defRPr sz="4275" b="1">
                <a:solidFill>
                  <a:srgbClr val="FFFFFF"/>
                </a:solidFill>
                <a:latin typeface="DejaVu Sans"/>
                <a:ea typeface="DejaVu Sans"/>
                <a:cs typeface="DejaVu Sans"/>
              </a:defRPr>
            </a:defPPr>
            <a:lvl1pPr>
              <a:defRPr sz="4275" b="1">
                <a:solidFill>
                  <a:srgbClr val="FFFFFF"/>
                </a:solidFill>
                <a:latin typeface="DejaVu Sans"/>
                <a:ea typeface="DejaVu Sans"/>
                <a:cs typeface="DejaVu Sans"/>
              </a:defRPr>
            </a:lvl1pPr>
            <a:lvl2pPr>
              <a:defRPr sz="4275" b="1">
                <a:solidFill>
                  <a:srgbClr val="FFFFFF"/>
                </a:solidFill>
                <a:latin typeface="DejaVu Sans"/>
                <a:ea typeface="DejaVu Sans"/>
                <a:cs typeface="DejaVu Sans"/>
              </a:defRPr>
            </a:lvl2pPr>
            <a:lvl3pPr>
              <a:defRPr sz="4275" b="1">
                <a:solidFill>
                  <a:srgbClr val="FFFFFF"/>
                </a:solidFill>
                <a:latin typeface="DejaVu Sans"/>
                <a:ea typeface="DejaVu Sans"/>
                <a:cs typeface="DejaVu Sans"/>
              </a:defRPr>
            </a:lvl3pPr>
            <a:lvl4pPr>
              <a:defRPr sz="4275" b="1">
                <a:solidFill>
                  <a:srgbClr val="FFFFFF"/>
                </a:solidFill>
                <a:latin typeface="DejaVu Sans"/>
                <a:ea typeface="DejaVu Sans"/>
                <a:cs typeface="DejaVu Sans"/>
              </a:defRPr>
            </a:lvl4pPr>
            <a:lvl5pPr>
              <a:defRPr sz="4275" b="1">
                <a:solidFill>
                  <a:srgbClr val="FFFFFF"/>
                </a:solidFill>
                <a:latin typeface="DejaVu Sans"/>
                <a:ea typeface="DejaVu Sans"/>
                <a:cs typeface="DejaVu Sans"/>
              </a:defRPr>
            </a:lvl5pPr>
            <a:lvl6pPr>
              <a:defRPr sz="4275" b="1">
                <a:solidFill>
                  <a:srgbClr val="FFFFFF"/>
                </a:solidFill>
                <a:latin typeface="DejaVu Sans"/>
                <a:ea typeface="DejaVu Sans"/>
                <a:cs typeface="DejaVu Sans"/>
              </a:defRPr>
            </a:lvl6pPr>
            <a:lvl7pPr>
              <a:defRPr sz="4275" b="1">
                <a:solidFill>
                  <a:srgbClr val="FFFFFF"/>
                </a:solidFill>
                <a:latin typeface="DejaVu Sans"/>
                <a:ea typeface="DejaVu Sans"/>
                <a:cs typeface="DejaVu Sans"/>
              </a:defRPr>
            </a:lvl7pPr>
            <a:lvl8pPr>
              <a:defRPr sz="4275" b="1">
                <a:solidFill>
                  <a:srgbClr val="FFFFFF"/>
                </a:solidFill>
                <a:latin typeface="DejaVu Sans"/>
                <a:ea typeface="DejaVu Sans"/>
                <a:cs typeface="DejaVu Sans"/>
              </a:defRPr>
            </a:lvl8pPr>
            <a:lvl9pPr>
              <a:defRPr sz="4275" b="1">
                <a:solidFill>
                  <a:srgbClr val="FFFFFF"/>
                </a:solidFill>
                <a:latin typeface="DejaVu Sans"/>
                <a:ea typeface="DejaVu Sans"/>
                <a:cs typeface="DejaVu Sans"/>
              </a:defRPr>
            </a:lvl9pPr>
          </a:lstStyle>
          <a:p>
            <a:pPr>
              <a:buNone/>
              <a:defRPr sz="4275" b="1">
                <a:solidFill>
                  <a:srgbClr val="FFFFFF"/>
                </a:solidFill>
                <a:latin typeface="DejaVu Sans"/>
                <a:ea typeface="DejaVu Sans"/>
                <a:cs typeface="DejaVu Sans"/>
              </a:defRPr>
            </a:pPr>
            <a:r>
              <a:rPr sz="4275" b="1" dirty="0">
                <a:solidFill>
                  <a:srgbClr val="FFFFFF"/>
                </a:solidFill>
                <a:latin typeface="DejaVu Sans"/>
                <a:ea typeface="DejaVu Sans"/>
                <a:cs typeface="DejaVu Sans"/>
              </a:rPr>
              <a:t>Agile development</a:t>
            </a:r>
          </a:p>
          <a:p>
            <a:pPr>
              <a:buNone/>
              <a:defRPr sz="4275" b="1">
                <a:solidFill>
                  <a:srgbClr val="FFFFFF"/>
                </a:solidFill>
                <a:latin typeface="DejaVu Sans"/>
                <a:ea typeface="DejaVu Sans"/>
                <a:cs typeface="DejaVu Sans"/>
              </a:defRPr>
            </a:pPr>
            <a:r>
              <a:rPr sz="4275" b="1" dirty="0">
                <a:solidFill>
                  <a:srgbClr val="FFFFFF"/>
                </a:solidFill>
                <a:latin typeface="DejaVu Sans"/>
                <a:ea typeface="DejaVu Sans"/>
                <a:cs typeface="DejaVu Sans"/>
              </a:rPr>
              <a:t>at ChadaTech</a:t>
            </a:r>
          </a:p>
        </p:txBody>
      </p:sp>
      <p:sp>
        <p:nvSpPr>
          <p:cNvPr id="2" name="text-1">
            <a:extLst>
              <a:ext uri="{FF2B5EF4-FFF2-40B4-BE49-F238E27FC236}">
                <a16:creationId xmlns:a16="http://schemas.microsoft.com/office/drawing/2014/main" id="{1C5EF254-171D-4302-A0E0-98DA09724436}"/>
              </a:ext>
            </a:extLst>
          </p:cNvPr>
          <p:cNvSpPr>
            <a:spLocks noGrp="1"/>
          </p:cNvSpPr>
          <p:nvPr/>
        </p:nvSpPr>
        <p:spPr>
          <a:xfrm>
            <a:off x="609600" y="3333750"/>
            <a:ext cx="6286500" cy="762000"/>
          </a:xfrm>
          <a:prstGeom prst="rect">
            <a:avLst/>
          </a:prstGeom>
          <a:noFill/>
          <a:ln w="0">
            <a:noFill/>
            <a:prstDash val="solid"/>
          </a:ln>
        </p:spPr>
        <p:txBody>
          <a:bodyPr lIns="0" tIns="0" rIns="0" bIns="0"/>
          <a:lstStyle>
            <a:defPPr>
              <a:defRPr sz="2175" b="0">
                <a:solidFill>
                  <a:srgbClr val="C8E8EB"/>
                </a:solidFill>
                <a:latin typeface="DejaVu Sans"/>
                <a:ea typeface="DejaVu Sans"/>
                <a:cs typeface="DejaVu Sans"/>
              </a:defRPr>
            </a:defPPr>
            <a:lvl1pPr>
              <a:defRPr sz="2175" b="0">
                <a:solidFill>
                  <a:srgbClr val="C8E8EB"/>
                </a:solidFill>
                <a:latin typeface="DejaVu Sans"/>
                <a:ea typeface="DejaVu Sans"/>
                <a:cs typeface="DejaVu Sans"/>
              </a:defRPr>
            </a:lvl1pPr>
            <a:lvl2pPr>
              <a:defRPr sz="2175" b="0">
                <a:solidFill>
                  <a:srgbClr val="C8E8EB"/>
                </a:solidFill>
                <a:latin typeface="DejaVu Sans"/>
                <a:ea typeface="DejaVu Sans"/>
                <a:cs typeface="DejaVu Sans"/>
              </a:defRPr>
            </a:lvl2pPr>
            <a:lvl3pPr>
              <a:defRPr sz="2175" b="0">
                <a:solidFill>
                  <a:srgbClr val="C8E8EB"/>
                </a:solidFill>
                <a:latin typeface="DejaVu Sans"/>
                <a:ea typeface="DejaVu Sans"/>
                <a:cs typeface="DejaVu Sans"/>
              </a:defRPr>
            </a:lvl3pPr>
            <a:lvl4pPr>
              <a:defRPr sz="2175" b="0">
                <a:solidFill>
                  <a:srgbClr val="C8E8EB"/>
                </a:solidFill>
                <a:latin typeface="DejaVu Sans"/>
                <a:ea typeface="DejaVu Sans"/>
                <a:cs typeface="DejaVu Sans"/>
              </a:defRPr>
            </a:lvl4pPr>
            <a:lvl5pPr>
              <a:defRPr sz="2175" b="0">
                <a:solidFill>
                  <a:srgbClr val="C8E8EB"/>
                </a:solidFill>
                <a:latin typeface="DejaVu Sans"/>
                <a:ea typeface="DejaVu Sans"/>
                <a:cs typeface="DejaVu Sans"/>
              </a:defRPr>
            </a:lvl5pPr>
            <a:lvl6pPr>
              <a:defRPr sz="2175" b="0">
                <a:solidFill>
                  <a:srgbClr val="C8E8EB"/>
                </a:solidFill>
                <a:latin typeface="DejaVu Sans"/>
                <a:ea typeface="DejaVu Sans"/>
                <a:cs typeface="DejaVu Sans"/>
              </a:defRPr>
            </a:lvl6pPr>
            <a:lvl7pPr>
              <a:defRPr sz="2175" b="0">
                <a:solidFill>
                  <a:srgbClr val="C8E8EB"/>
                </a:solidFill>
                <a:latin typeface="DejaVu Sans"/>
                <a:ea typeface="DejaVu Sans"/>
                <a:cs typeface="DejaVu Sans"/>
              </a:defRPr>
            </a:lvl7pPr>
            <a:lvl8pPr>
              <a:defRPr sz="2175" b="0">
                <a:solidFill>
                  <a:srgbClr val="C8E8EB"/>
                </a:solidFill>
                <a:latin typeface="DejaVu Sans"/>
                <a:ea typeface="DejaVu Sans"/>
                <a:cs typeface="DejaVu Sans"/>
              </a:defRPr>
            </a:lvl8pPr>
            <a:lvl9pPr>
              <a:defRPr sz="2175" b="0">
                <a:solidFill>
                  <a:srgbClr val="C8E8EB"/>
                </a:solidFill>
                <a:latin typeface="DejaVu Sans"/>
                <a:ea typeface="DejaVu Sans"/>
                <a:cs typeface="DejaVu Sans"/>
              </a:defRPr>
            </a:lvl9pPr>
          </a:lstStyle>
          <a:p>
            <a:pPr>
              <a:buNone/>
              <a:defRPr sz="2175" b="0">
                <a:solidFill>
                  <a:srgbClr val="C8E8EB"/>
                </a:solidFill>
                <a:latin typeface="DejaVu Sans"/>
                <a:ea typeface="DejaVu Sans"/>
                <a:cs typeface="DejaVu Sans"/>
              </a:defRPr>
            </a:pPr>
            <a:r>
              <a:rPr sz="2175" b="0" dirty="0">
                <a:solidFill>
                  <a:srgbClr val="C8E8EB"/>
                </a:solidFill>
                <a:latin typeface="DejaVu Sans"/>
                <a:ea typeface="DejaVu Sans"/>
                <a:cs typeface="DejaVu Sans"/>
              </a:rPr>
              <a:t>Lessons from the SNHU Travel pilot</a:t>
            </a:r>
          </a:p>
        </p:txBody>
      </p:sp>
      <p:sp>
        <p:nvSpPr>
          <p:cNvPr id="3" name="text-2">
            <a:extLst>
              <a:ext uri="{FF2B5EF4-FFF2-40B4-BE49-F238E27FC236}">
                <a16:creationId xmlns:a16="http://schemas.microsoft.com/office/drawing/2014/main" id="{52D5F805-2CC3-4B73-9206-28FD8ACA050B}"/>
              </a:ext>
            </a:extLst>
          </p:cNvPr>
          <p:cNvSpPr>
            <a:spLocks noGrp="1"/>
          </p:cNvSpPr>
          <p:nvPr/>
        </p:nvSpPr>
        <p:spPr>
          <a:xfrm>
            <a:off x="609600" y="4857750"/>
            <a:ext cx="6191250" cy="1095375"/>
          </a:xfrm>
          <a:prstGeom prst="rect">
            <a:avLst/>
          </a:prstGeom>
          <a:noFill/>
          <a:ln w="0">
            <a:noFill/>
            <a:prstDash val="solid"/>
          </a:ln>
        </p:spPr>
        <p:txBody>
          <a:bodyPr lIns="0" tIns="0" rIns="0" bIns="0"/>
          <a:lstStyle>
            <a:defPPr>
              <a:defRPr sz="1800" b="0">
                <a:solidFill>
                  <a:srgbClr val="FFFFFF"/>
                </a:solidFill>
                <a:latin typeface="DejaVu Sans"/>
                <a:ea typeface="DejaVu Sans"/>
                <a:cs typeface="DejaVu Sans"/>
              </a:defRPr>
            </a:defPPr>
            <a:lvl1pPr>
              <a:defRPr sz="1800" b="0">
                <a:solidFill>
                  <a:srgbClr val="FFFFFF"/>
                </a:solidFill>
                <a:latin typeface="DejaVu Sans"/>
                <a:ea typeface="DejaVu Sans"/>
                <a:cs typeface="DejaVu Sans"/>
              </a:defRPr>
            </a:lvl1pPr>
            <a:lvl2pPr>
              <a:defRPr sz="1800" b="0">
                <a:solidFill>
                  <a:srgbClr val="FFFFFF"/>
                </a:solidFill>
                <a:latin typeface="DejaVu Sans"/>
                <a:ea typeface="DejaVu Sans"/>
                <a:cs typeface="DejaVu Sans"/>
              </a:defRPr>
            </a:lvl2pPr>
            <a:lvl3pPr>
              <a:defRPr sz="1800" b="0">
                <a:solidFill>
                  <a:srgbClr val="FFFFFF"/>
                </a:solidFill>
                <a:latin typeface="DejaVu Sans"/>
                <a:ea typeface="DejaVu Sans"/>
                <a:cs typeface="DejaVu Sans"/>
              </a:defRPr>
            </a:lvl3pPr>
            <a:lvl4pPr>
              <a:defRPr sz="1800" b="0">
                <a:solidFill>
                  <a:srgbClr val="FFFFFF"/>
                </a:solidFill>
                <a:latin typeface="DejaVu Sans"/>
                <a:ea typeface="DejaVu Sans"/>
                <a:cs typeface="DejaVu Sans"/>
              </a:defRPr>
            </a:lvl4pPr>
            <a:lvl5pPr>
              <a:defRPr sz="1800" b="0">
                <a:solidFill>
                  <a:srgbClr val="FFFFFF"/>
                </a:solidFill>
                <a:latin typeface="DejaVu Sans"/>
                <a:ea typeface="DejaVu Sans"/>
                <a:cs typeface="DejaVu Sans"/>
              </a:defRPr>
            </a:lvl5pPr>
            <a:lvl6pPr>
              <a:defRPr sz="1800" b="0">
                <a:solidFill>
                  <a:srgbClr val="FFFFFF"/>
                </a:solidFill>
                <a:latin typeface="DejaVu Sans"/>
                <a:ea typeface="DejaVu Sans"/>
                <a:cs typeface="DejaVu Sans"/>
              </a:defRPr>
            </a:lvl6pPr>
            <a:lvl7pPr>
              <a:defRPr sz="1800" b="0">
                <a:solidFill>
                  <a:srgbClr val="FFFFFF"/>
                </a:solidFill>
                <a:latin typeface="DejaVu Sans"/>
                <a:ea typeface="DejaVu Sans"/>
                <a:cs typeface="DejaVu Sans"/>
              </a:defRPr>
            </a:lvl7pPr>
            <a:lvl8pPr>
              <a:defRPr sz="1800" b="0">
                <a:solidFill>
                  <a:srgbClr val="FFFFFF"/>
                </a:solidFill>
                <a:latin typeface="DejaVu Sans"/>
                <a:ea typeface="DejaVu Sans"/>
                <a:cs typeface="DejaVu Sans"/>
              </a:defRPr>
            </a:lvl8pPr>
            <a:lvl9pPr>
              <a:defRPr sz="1800" b="0">
                <a:solidFill>
                  <a:srgbClr val="FFFFFF"/>
                </a:solidFill>
                <a:latin typeface="DejaVu Sans"/>
                <a:ea typeface="DejaVu Sans"/>
                <a:cs typeface="DejaVu Sans"/>
              </a:defRPr>
            </a:lvl9pPr>
          </a:lstStyle>
          <a:p>
            <a:pPr>
              <a:buNone/>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Paul Silva</a:t>
            </a:r>
          </a:p>
          <a:p>
            <a:pPr>
              <a:buNone/>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CS 250</a:t>
            </a:r>
          </a:p>
          <a:p>
            <a:pPr>
              <a:buNone/>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October 18, 2026</a:t>
            </a:r>
          </a:p>
        </p:txBody>
      </p:sp>
      <p:pic>
        <p:nvPicPr>
          <p:cNvPr id="4" name="Picture 3">
            <a:extLst>
              <a:ext uri="{FF2B5EF4-FFF2-40B4-BE49-F238E27FC236}">
                <a16:creationId xmlns:a16="http://schemas.microsoft.com/office/drawing/2014/main" id="{8AF8AA3A-CCFB-43F2-BF3F-28517AAC69BF}"/>
              </a:ext>
            </a:extLst>
          </p:cNvPr>
          <p:cNvPicPr>
            <a:picLocks noChangeAspect="1"/>
          </p:cNvPicPr>
          <p:nvPr/>
        </p:nvPicPr>
        <p:blipFill>
          <a:blip r:embed="rId3"/>
          <a:srcRect l="28243" r="28243"/>
          <a:stretch>
            <a:fillRect/>
          </a:stretch>
        </p:blipFill>
        <p:spPr>
          <a:xfrm>
            <a:off x="7715250" y="0"/>
            <a:ext cx="4476750" cy="6858000"/>
          </a:xfrm>
          <a:prstGeom prst="rect">
            <a:avLst/>
          </a:prstGeom>
        </p:spPr>
      </p:pic>
    </p:spTree>
    <p:extLst>
      <p:ext uri="{BB962C8B-B14F-4D97-AF65-F5344CB8AC3E}">
        <p14:creationId xmlns:p14="http://schemas.microsoft.com/office/powerpoint/2010/main" val="858133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A440D7F8-C443-4929-BE9D-04F50642BEA3}"/>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Scrum team roles and accountabilities</a:t>
            </a:r>
          </a:p>
        </p:txBody>
      </p:sp>
      <p:sp>
        <p:nvSpPr>
          <p:cNvPr id="2" name="text-1">
            <a:extLst>
              <a:ext uri="{FF2B5EF4-FFF2-40B4-BE49-F238E27FC236}">
                <a16:creationId xmlns:a16="http://schemas.microsoft.com/office/drawing/2014/main" id="{7F8379A6-90C8-421A-870A-084F82FD1A46}"/>
              </a:ext>
            </a:extLst>
          </p:cNvPr>
          <p:cNvSpPr>
            <a:spLocks noGrp="1"/>
          </p:cNvSpPr>
          <p:nvPr/>
        </p:nvSpPr>
        <p:spPr>
          <a:xfrm>
            <a:off x="609600" y="6334125"/>
            <a:ext cx="10972800" cy="323850"/>
          </a:xfrm>
          <a:prstGeom prst="rect">
            <a:avLst/>
          </a:prstGeom>
          <a:noFill/>
          <a:ln w="0">
            <a:noFill/>
            <a:prstDash val="solid"/>
          </a:ln>
        </p:spPr>
        <p:txBody>
          <a:bodyPr lIns="0" tIns="0" rIns="0" bIns="0"/>
          <a:lstStyle>
            <a:defPPr>
              <a:defRPr sz="1275" b="0">
                <a:solidFill>
                  <a:srgbClr val="475569"/>
                </a:solidFill>
                <a:latin typeface="DejaVu Sans"/>
                <a:ea typeface="DejaVu Sans"/>
                <a:cs typeface="DejaVu Sans"/>
              </a:defRPr>
            </a:defPPr>
            <a:lvl1pPr>
              <a:defRPr sz="1275" b="0">
                <a:solidFill>
                  <a:srgbClr val="475569"/>
                </a:solidFill>
                <a:latin typeface="DejaVu Sans"/>
                <a:ea typeface="DejaVu Sans"/>
                <a:cs typeface="DejaVu Sans"/>
              </a:defRPr>
            </a:lvl1pPr>
            <a:lvl2pPr>
              <a:defRPr sz="1275" b="0">
                <a:solidFill>
                  <a:srgbClr val="475569"/>
                </a:solidFill>
                <a:latin typeface="DejaVu Sans"/>
                <a:ea typeface="DejaVu Sans"/>
                <a:cs typeface="DejaVu Sans"/>
              </a:defRPr>
            </a:lvl2pPr>
            <a:lvl3pPr>
              <a:defRPr sz="1275" b="0">
                <a:solidFill>
                  <a:srgbClr val="475569"/>
                </a:solidFill>
                <a:latin typeface="DejaVu Sans"/>
                <a:ea typeface="DejaVu Sans"/>
                <a:cs typeface="DejaVu Sans"/>
              </a:defRPr>
            </a:lvl3pPr>
            <a:lvl4pPr>
              <a:defRPr sz="1275" b="0">
                <a:solidFill>
                  <a:srgbClr val="475569"/>
                </a:solidFill>
                <a:latin typeface="DejaVu Sans"/>
                <a:ea typeface="DejaVu Sans"/>
                <a:cs typeface="DejaVu Sans"/>
              </a:defRPr>
            </a:lvl4pPr>
            <a:lvl5pPr>
              <a:defRPr sz="1275" b="0">
                <a:solidFill>
                  <a:srgbClr val="475569"/>
                </a:solidFill>
                <a:latin typeface="DejaVu Sans"/>
                <a:ea typeface="DejaVu Sans"/>
                <a:cs typeface="DejaVu Sans"/>
              </a:defRPr>
            </a:lvl5pPr>
            <a:lvl6pPr>
              <a:defRPr sz="1275" b="0">
                <a:solidFill>
                  <a:srgbClr val="475569"/>
                </a:solidFill>
                <a:latin typeface="DejaVu Sans"/>
                <a:ea typeface="DejaVu Sans"/>
                <a:cs typeface="DejaVu Sans"/>
              </a:defRPr>
            </a:lvl6pPr>
            <a:lvl7pPr>
              <a:defRPr sz="1275" b="0">
                <a:solidFill>
                  <a:srgbClr val="475569"/>
                </a:solidFill>
                <a:latin typeface="DejaVu Sans"/>
                <a:ea typeface="DejaVu Sans"/>
                <a:cs typeface="DejaVu Sans"/>
              </a:defRPr>
            </a:lvl7pPr>
            <a:lvl8pPr>
              <a:defRPr sz="1275" b="0">
                <a:solidFill>
                  <a:srgbClr val="475569"/>
                </a:solidFill>
                <a:latin typeface="DejaVu Sans"/>
                <a:ea typeface="DejaVu Sans"/>
                <a:cs typeface="DejaVu Sans"/>
              </a:defRPr>
            </a:lvl8pPr>
            <a:lvl9pPr>
              <a:defRPr sz="1275" b="0">
                <a:solidFill>
                  <a:srgbClr val="475569"/>
                </a:solidFill>
                <a:latin typeface="DejaVu Sans"/>
                <a:ea typeface="DejaVu Sans"/>
                <a:cs typeface="DejaVu Sans"/>
              </a:defRPr>
            </a:lvl9pPr>
          </a:lstStyle>
          <a:p>
            <a:pPr>
              <a:buNone/>
              <a:defRPr sz="1275" b="0">
                <a:solidFill>
                  <a:srgbClr val="475569"/>
                </a:solidFill>
                <a:latin typeface="DejaVu Sans"/>
                <a:ea typeface="DejaVu Sans"/>
                <a:cs typeface="DejaVu Sans"/>
              </a:defRPr>
            </a:pPr>
            <a:r>
              <a:rPr sz="1275" b="0">
                <a:solidFill>
                  <a:srgbClr val="475569"/>
                </a:solidFill>
                <a:latin typeface="DejaVu Sans"/>
                <a:ea typeface="DejaVu Sans"/>
                <a:cs typeface="DejaVu Sans"/>
              </a:rPr>
              <a:t>(Rahman, 2023; Schwaber &amp; Sutherland, 2020)</a:t>
            </a:r>
          </a:p>
        </p:txBody>
      </p:sp>
      <p:sp>
        <p:nvSpPr>
          <p:cNvPr id="3" name="text-2">
            <a:extLst>
              <a:ext uri="{FF2B5EF4-FFF2-40B4-BE49-F238E27FC236}">
                <a16:creationId xmlns:a16="http://schemas.microsoft.com/office/drawing/2014/main" id="{1115A521-7667-483C-A3F8-AF17AA0FEF5E}"/>
              </a:ext>
            </a:extLst>
          </p:cNvPr>
          <p:cNvSpPr>
            <a:spLocks noGrp="1"/>
          </p:cNvSpPr>
          <p:nvPr/>
        </p:nvSpPr>
        <p:spPr>
          <a:xfrm>
            <a:off x="609600" y="157162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Product Owner</a:t>
            </a:r>
          </a:p>
        </p:txBody>
      </p:sp>
      <p:sp>
        <p:nvSpPr>
          <p:cNvPr id="4" name="text-3">
            <a:extLst>
              <a:ext uri="{FF2B5EF4-FFF2-40B4-BE49-F238E27FC236}">
                <a16:creationId xmlns:a16="http://schemas.microsoft.com/office/drawing/2014/main" id="{82337BC9-C1FB-42D9-BF1A-C9D841F7DE16}"/>
              </a:ext>
            </a:extLst>
          </p:cNvPr>
          <p:cNvSpPr>
            <a:spLocks noGrp="1"/>
          </p:cNvSpPr>
          <p:nvPr/>
        </p:nvSpPr>
        <p:spPr>
          <a:xfrm>
            <a:off x="3714750" y="157162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Maximizes product value and orders the Product Backlog. Clear priorities connect development to customer needs.</a:t>
            </a:r>
          </a:p>
        </p:txBody>
      </p:sp>
      <p:sp>
        <p:nvSpPr>
          <p:cNvPr id="5" name="text-4">
            <a:extLst>
              <a:ext uri="{FF2B5EF4-FFF2-40B4-BE49-F238E27FC236}">
                <a16:creationId xmlns:a16="http://schemas.microsoft.com/office/drawing/2014/main" id="{90DC5532-DFA0-40C8-B644-BA0E20A54641}"/>
              </a:ext>
            </a:extLst>
          </p:cNvPr>
          <p:cNvSpPr>
            <a:spLocks noGrp="1"/>
          </p:cNvSpPr>
          <p:nvPr/>
        </p:nvSpPr>
        <p:spPr>
          <a:xfrm>
            <a:off x="609600" y="2952750"/>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Scrum Master</a:t>
            </a:r>
          </a:p>
        </p:txBody>
      </p:sp>
      <p:sp>
        <p:nvSpPr>
          <p:cNvPr id="6" name="text-5">
            <a:extLst>
              <a:ext uri="{FF2B5EF4-FFF2-40B4-BE49-F238E27FC236}">
                <a16:creationId xmlns:a16="http://schemas.microsoft.com/office/drawing/2014/main" id="{8C5CC6CF-0454-4BCE-B0D1-F20C68A76DB8}"/>
              </a:ext>
            </a:extLst>
          </p:cNvPr>
          <p:cNvSpPr>
            <a:spLocks noGrp="1"/>
          </p:cNvSpPr>
          <p:nvPr/>
        </p:nvSpPr>
        <p:spPr>
          <a:xfrm>
            <a:off x="3714750" y="2952750"/>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Supports team effectiveness, coaches Scrum, and helps remove impediments. The team retains ownership of its work.</a:t>
            </a:r>
          </a:p>
        </p:txBody>
      </p:sp>
      <p:sp>
        <p:nvSpPr>
          <p:cNvPr id="7" name="text-6">
            <a:extLst>
              <a:ext uri="{FF2B5EF4-FFF2-40B4-BE49-F238E27FC236}">
                <a16:creationId xmlns:a16="http://schemas.microsoft.com/office/drawing/2014/main" id="{540C9A07-FC7E-4859-8FAC-CFB574E2C222}"/>
              </a:ext>
            </a:extLst>
          </p:cNvPr>
          <p:cNvSpPr>
            <a:spLocks noGrp="1"/>
          </p:cNvSpPr>
          <p:nvPr/>
        </p:nvSpPr>
        <p:spPr>
          <a:xfrm>
            <a:off x="609600" y="4333875"/>
            <a:ext cx="2905125" cy="809625"/>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Developers</a:t>
            </a:r>
          </a:p>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and testers</a:t>
            </a:r>
          </a:p>
        </p:txBody>
      </p:sp>
      <p:sp>
        <p:nvSpPr>
          <p:cNvPr id="8" name="text-7">
            <a:extLst>
              <a:ext uri="{FF2B5EF4-FFF2-40B4-BE49-F238E27FC236}">
                <a16:creationId xmlns:a16="http://schemas.microsoft.com/office/drawing/2014/main" id="{2F31BD53-EA2F-4B32-8ED5-4F33377DBE00}"/>
              </a:ext>
            </a:extLst>
          </p:cNvPr>
          <p:cNvSpPr>
            <a:spLocks noGrp="1"/>
          </p:cNvSpPr>
          <p:nvPr/>
        </p:nvSpPr>
        <p:spPr>
          <a:xfrm>
            <a:off x="3714750" y="433387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Developers create a usable Increment. Programmers and testers are specialist roles that share responsibility for quality.</a:t>
            </a:r>
          </a:p>
        </p:txBody>
      </p:sp>
      <p:sp>
        <p:nvSpPr>
          <p:cNvPr id="9" name="text-8">
            <a:extLst>
              <a:ext uri="{FF2B5EF4-FFF2-40B4-BE49-F238E27FC236}">
                <a16:creationId xmlns:a16="http://schemas.microsoft.com/office/drawing/2014/main" id="{383EEB0E-AEEB-4859-A3E8-B95B801061D9}"/>
              </a:ext>
            </a:extLst>
          </p:cNvPr>
          <p:cNvSpPr>
            <a:spLocks noGrp="1"/>
          </p:cNvSpPr>
          <p:nvPr/>
        </p:nvSpPr>
        <p:spPr>
          <a:xfrm>
            <a:off x="609600" y="5686425"/>
            <a:ext cx="10953750" cy="457200"/>
          </a:xfrm>
          <a:prstGeom prst="rect">
            <a:avLst/>
          </a:prstGeom>
          <a:noFill/>
          <a:ln w="0">
            <a:noFill/>
            <a:prstDash val="solid"/>
          </a:ln>
        </p:spPr>
        <p:txBody>
          <a:bodyPr lIns="0" tIns="0" rIns="0" bIns="0"/>
          <a:lstStyle>
            <a:defPPr>
              <a:defRPr sz="1575" b="0">
                <a:solidFill>
                  <a:srgbClr val="475569"/>
                </a:solidFill>
                <a:latin typeface="DejaVu Sans"/>
                <a:ea typeface="DejaVu Sans"/>
                <a:cs typeface="DejaVu Sans"/>
              </a:defRPr>
            </a:defPPr>
            <a:lvl1pPr>
              <a:defRPr sz="1575" b="0">
                <a:solidFill>
                  <a:srgbClr val="475569"/>
                </a:solidFill>
                <a:latin typeface="DejaVu Sans"/>
                <a:ea typeface="DejaVu Sans"/>
                <a:cs typeface="DejaVu Sans"/>
              </a:defRPr>
            </a:lvl1pPr>
            <a:lvl2pPr>
              <a:defRPr sz="1575" b="0">
                <a:solidFill>
                  <a:srgbClr val="475569"/>
                </a:solidFill>
                <a:latin typeface="DejaVu Sans"/>
                <a:ea typeface="DejaVu Sans"/>
                <a:cs typeface="DejaVu Sans"/>
              </a:defRPr>
            </a:lvl2pPr>
            <a:lvl3pPr>
              <a:defRPr sz="1575" b="0">
                <a:solidFill>
                  <a:srgbClr val="475569"/>
                </a:solidFill>
                <a:latin typeface="DejaVu Sans"/>
                <a:ea typeface="DejaVu Sans"/>
                <a:cs typeface="DejaVu Sans"/>
              </a:defRPr>
            </a:lvl3pPr>
            <a:lvl4pPr>
              <a:defRPr sz="1575" b="0">
                <a:solidFill>
                  <a:srgbClr val="475569"/>
                </a:solidFill>
                <a:latin typeface="DejaVu Sans"/>
                <a:ea typeface="DejaVu Sans"/>
                <a:cs typeface="DejaVu Sans"/>
              </a:defRPr>
            </a:lvl4pPr>
            <a:lvl5pPr>
              <a:defRPr sz="1575" b="0">
                <a:solidFill>
                  <a:srgbClr val="475569"/>
                </a:solidFill>
                <a:latin typeface="DejaVu Sans"/>
                <a:ea typeface="DejaVu Sans"/>
                <a:cs typeface="DejaVu Sans"/>
              </a:defRPr>
            </a:lvl5pPr>
            <a:lvl6pPr>
              <a:defRPr sz="1575" b="0">
                <a:solidFill>
                  <a:srgbClr val="475569"/>
                </a:solidFill>
                <a:latin typeface="DejaVu Sans"/>
                <a:ea typeface="DejaVu Sans"/>
                <a:cs typeface="DejaVu Sans"/>
              </a:defRPr>
            </a:lvl6pPr>
            <a:lvl7pPr>
              <a:defRPr sz="1575" b="0">
                <a:solidFill>
                  <a:srgbClr val="475569"/>
                </a:solidFill>
                <a:latin typeface="DejaVu Sans"/>
                <a:ea typeface="DejaVu Sans"/>
                <a:cs typeface="DejaVu Sans"/>
              </a:defRPr>
            </a:lvl7pPr>
            <a:lvl8pPr>
              <a:defRPr sz="1575" b="0">
                <a:solidFill>
                  <a:srgbClr val="475569"/>
                </a:solidFill>
                <a:latin typeface="DejaVu Sans"/>
                <a:ea typeface="DejaVu Sans"/>
                <a:cs typeface="DejaVu Sans"/>
              </a:defRPr>
            </a:lvl8pPr>
            <a:lvl9pPr>
              <a:defRPr sz="1575" b="0">
                <a:solidFill>
                  <a:srgbClr val="475569"/>
                </a:solidFill>
                <a:latin typeface="DejaVu Sans"/>
                <a:ea typeface="DejaVu Sans"/>
                <a:cs typeface="DejaVu Sans"/>
              </a:defRPr>
            </a:lvl9pPr>
          </a:lstStyle>
          <a:p>
            <a:pPr>
              <a:buNone/>
              <a:defRPr sz="1575" b="0">
                <a:solidFill>
                  <a:srgbClr val="475569"/>
                </a:solidFill>
                <a:latin typeface="DejaVu Sans"/>
                <a:ea typeface="DejaVu Sans"/>
                <a:cs typeface="DejaVu Sans"/>
              </a:defRPr>
            </a:pPr>
            <a:r>
              <a:rPr sz="1575" b="0">
                <a:solidFill>
                  <a:srgbClr val="475569"/>
                </a:solidFill>
                <a:latin typeface="DejaVu Sans"/>
                <a:ea typeface="DejaVu Sans"/>
                <a:cs typeface="DejaVu Sans"/>
              </a:rPr>
              <a:t>Project roles: Christy, Product Owner; Ron, Scrum Master; Nicky, developer; Brian, tester.</a:t>
            </a:r>
          </a:p>
        </p:txBody>
      </p:sp>
    </p:spTree>
    <p:extLst>
      <p:ext uri="{BB962C8B-B14F-4D97-AF65-F5344CB8AC3E}">
        <p14:creationId xmlns:p14="http://schemas.microsoft.com/office/powerpoint/2010/main" val="1780533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83E30AD5-C670-4CA8-B2FF-B0B84FF71A59}"/>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Agile SDLC phases 1–3</a:t>
            </a:r>
          </a:p>
        </p:txBody>
      </p:sp>
      <p:sp>
        <p:nvSpPr>
          <p:cNvPr id="2" name="text-1">
            <a:extLst>
              <a:ext uri="{FF2B5EF4-FFF2-40B4-BE49-F238E27FC236}">
                <a16:creationId xmlns:a16="http://schemas.microsoft.com/office/drawing/2014/main" id="{68F4296B-34AE-4ADD-9074-453A5A1CB644}"/>
              </a:ext>
            </a:extLst>
          </p:cNvPr>
          <p:cNvSpPr>
            <a:spLocks noGrp="1"/>
          </p:cNvSpPr>
          <p:nvPr/>
        </p:nvSpPr>
        <p:spPr>
          <a:xfrm>
            <a:off x="609600" y="6334125"/>
            <a:ext cx="10972800" cy="323850"/>
          </a:xfrm>
          <a:prstGeom prst="rect">
            <a:avLst/>
          </a:prstGeom>
          <a:noFill/>
          <a:ln w="0">
            <a:noFill/>
            <a:prstDash val="solid"/>
          </a:ln>
        </p:spPr>
        <p:txBody>
          <a:bodyPr lIns="0" tIns="0" rIns="0" bIns="0"/>
          <a:lstStyle>
            <a:defPPr>
              <a:defRPr sz="1275" b="0">
                <a:solidFill>
                  <a:srgbClr val="475569"/>
                </a:solidFill>
                <a:latin typeface="DejaVu Sans"/>
                <a:ea typeface="DejaVu Sans"/>
                <a:cs typeface="DejaVu Sans"/>
              </a:defRPr>
            </a:defPPr>
            <a:lvl1pPr>
              <a:defRPr sz="1275" b="0">
                <a:solidFill>
                  <a:srgbClr val="475569"/>
                </a:solidFill>
                <a:latin typeface="DejaVu Sans"/>
                <a:ea typeface="DejaVu Sans"/>
                <a:cs typeface="DejaVu Sans"/>
              </a:defRPr>
            </a:lvl1pPr>
            <a:lvl2pPr>
              <a:defRPr sz="1275" b="0">
                <a:solidFill>
                  <a:srgbClr val="475569"/>
                </a:solidFill>
                <a:latin typeface="DejaVu Sans"/>
                <a:ea typeface="DejaVu Sans"/>
                <a:cs typeface="DejaVu Sans"/>
              </a:defRPr>
            </a:lvl2pPr>
            <a:lvl3pPr>
              <a:defRPr sz="1275" b="0">
                <a:solidFill>
                  <a:srgbClr val="475569"/>
                </a:solidFill>
                <a:latin typeface="DejaVu Sans"/>
                <a:ea typeface="DejaVu Sans"/>
                <a:cs typeface="DejaVu Sans"/>
              </a:defRPr>
            </a:lvl3pPr>
            <a:lvl4pPr>
              <a:defRPr sz="1275" b="0">
                <a:solidFill>
                  <a:srgbClr val="475569"/>
                </a:solidFill>
                <a:latin typeface="DejaVu Sans"/>
                <a:ea typeface="DejaVu Sans"/>
                <a:cs typeface="DejaVu Sans"/>
              </a:defRPr>
            </a:lvl4pPr>
            <a:lvl5pPr>
              <a:defRPr sz="1275" b="0">
                <a:solidFill>
                  <a:srgbClr val="475569"/>
                </a:solidFill>
                <a:latin typeface="DejaVu Sans"/>
                <a:ea typeface="DejaVu Sans"/>
                <a:cs typeface="DejaVu Sans"/>
              </a:defRPr>
            </a:lvl5pPr>
            <a:lvl6pPr>
              <a:defRPr sz="1275" b="0">
                <a:solidFill>
                  <a:srgbClr val="475569"/>
                </a:solidFill>
                <a:latin typeface="DejaVu Sans"/>
                <a:ea typeface="DejaVu Sans"/>
                <a:cs typeface="DejaVu Sans"/>
              </a:defRPr>
            </a:lvl6pPr>
            <a:lvl7pPr>
              <a:defRPr sz="1275" b="0">
                <a:solidFill>
                  <a:srgbClr val="475569"/>
                </a:solidFill>
                <a:latin typeface="DejaVu Sans"/>
                <a:ea typeface="DejaVu Sans"/>
                <a:cs typeface="DejaVu Sans"/>
              </a:defRPr>
            </a:lvl7pPr>
            <a:lvl8pPr>
              <a:defRPr sz="1275" b="0">
                <a:solidFill>
                  <a:srgbClr val="475569"/>
                </a:solidFill>
                <a:latin typeface="DejaVu Sans"/>
                <a:ea typeface="DejaVu Sans"/>
                <a:cs typeface="DejaVu Sans"/>
              </a:defRPr>
            </a:lvl8pPr>
            <a:lvl9pPr>
              <a:defRPr sz="1275" b="0">
                <a:solidFill>
                  <a:srgbClr val="475569"/>
                </a:solidFill>
                <a:latin typeface="DejaVu Sans"/>
                <a:ea typeface="DejaVu Sans"/>
                <a:cs typeface="DejaVu Sans"/>
              </a:defRPr>
            </a:lvl9pPr>
          </a:lstStyle>
          <a:p>
            <a:pPr>
              <a:buNone/>
              <a:defRPr sz="1275" b="0">
                <a:solidFill>
                  <a:srgbClr val="475569"/>
                </a:solidFill>
                <a:latin typeface="DejaVu Sans"/>
                <a:ea typeface="DejaVu Sans"/>
                <a:cs typeface="DejaVu Sans"/>
              </a:defRPr>
            </a:pPr>
            <a:r>
              <a:rPr sz="1275" b="0">
                <a:solidFill>
                  <a:srgbClr val="475569"/>
                </a:solidFill>
                <a:latin typeface="DejaVu Sans"/>
                <a:ea typeface="DejaVu Sans"/>
                <a:cs typeface="DejaVu Sans"/>
              </a:rPr>
              <a:t>(Jackson et al., n.d.; Rahman, 2023)</a:t>
            </a:r>
          </a:p>
        </p:txBody>
      </p:sp>
      <p:sp>
        <p:nvSpPr>
          <p:cNvPr id="3" name="text-2">
            <a:extLst>
              <a:ext uri="{FF2B5EF4-FFF2-40B4-BE49-F238E27FC236}">
                <a16:creationId xmlns:a16="http://schemas.microsoft.com/office/drawing/2014/main" id="{34F2129D-86E1-4C7E-80A2-33B8676385C8}"/>
              </a:ext>
            </a:extLst>
          </p:cNvPr>
          <p:cNvSpPr>
            <a:spLocks noGrp="1"/>
          </p:cNvSpPr>
          <p:nvPr/>
        </p:nvSpPr>
        <p:spPr>
          <a:xfrm>
            <a:off x="609600" y="157162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1  Planning</a:t>
            </a:r>
          </a:p>
        </p:txBody>
      </p:sp>
      <p:sp>
        <p:nvSpPr>
          <p:cNvPr id="4" name="text-3">
            <a:extLst>
              <a:ext uri="{FF2B5EF4-FFF2-40B4-BE49-F238E27FC236}">
                <a16:creationId xmlns:a16="http://schemas.microsoft.com/office/drawing/2014/main" id="{E33B8CF9-0A1C-41D4-9475-FB2520EEB771}"/>
              </a:ext>
            </a:extLst>
          </p:cNvPr>
          <p:cNvSpPr>
            <a:spLocks noGrp="1"/>
          </p:cNvSpPr>
          <p:nvPr/>
        </p:nvSpPr>
        <p:spPr>
          <a:xfrm>
            <a:off x="3714750" y="157162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Set the product direction and select achievable work for a Sprint. This limits effort to a useful next increment.</a:t>
            </a:r>
          </a:p>
        </p:txBody>
      </p:sp>
      <p:sp>
        <p:nvSpPr>
          <p:cNvPr id="5" name="text-4">
            <a:extLst>
              <a:ext uri="{FF2B5EF4-FFF2-40B4-BE49-F238E27FC236}">
                <a16:creationId xmlns:a16="http://schemas.microsoft.com/office/drawing/2014/main" id="{98FA3FCE-A375-41FF-B646-2BF294CB89C5}"/>
              </a:ext>
            </a:extLst>
          </p:cNvPr>
          <p:cNvSpPr>
            <a:spLocks noGrp="1"/>
          </p:cNvSpPr>
          <p:nvPr/>
        </p:nvSpPr>
        <p:spPr>
          <a:xfrm>
            <a:off x="609600" y="3000375"/>
            <a:ext cx="2905125" cy="809625"/>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2  Requirements</a:t>
            </a:r>
          </a:p>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analysis</a:t>
            </a:r>
          </a:p>
        </p:txBody>
      </p:sp>
      <p:sp>
        <p:nvSpPr>
          <p:cNvPr id="6" name="text-5">
            <a:extLst>
              <a:ext uri="{FF2B5EF4-FFF2-40B4-BE49-F238E27FC236}">
                <a16:creationId xmlns:a16="http://schemas.microsoft.com/office/drawing/2014/main" id="{CE8E12DE-4436-4527-A1B5-554E0A6C662B}"/>
              </a:ext>
            </a:extLst>
          </p:cNvPr>
          <p:cNvSpPr>
            <a:spLocks noGrp="1"/>
          </p:cNvSpPr>
          <p:nvPr/>
        </p:nvSpPr>
        <p:spPr>
          <a:xfrm>
            <a:off x="3714750" y="300037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Clarify user needs and acceptance criteria as knowledge grows. This gives implementation and testing a shared target.</a:t>
            </a:r>
          </a:p>
        </p:txBody>
      </p:sp>
      <p:sp>
        <p:nvSpPr>
          <p:cNvPr id="7" name="text-6">
            <a:extLst>
              <a:ext uri="{FF2B5EF4-FFF2-40B4-BE49-F238E27FC236}">
                <a16:creationId xmlns:a16="http://schemas.microsoft.com/office/drawing/2014/main" id="{FB7C078C-F406-4E28-BC9E-6934A2052607}"/>
              </a:ext>
            </a:extLst>
          </p:cNvPr>
          <p:cNvSpPr>
            <a:spLocks noGrp="1"/>
          </p:cNvSpPr>
          <p:nvPr/>
        </p:nvSpPr>
        <p:spPr>
          <a:xfrm>
            <a:off x="609600" y="442912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3  Design</a:t>
            </a:r>
          </a:p>
        </p:txBody>
      </p:sp>
      <p:sp>
        <p:nvSpPr>
          <p:cNvPr id="8" name="text-7">
            <a:extLst>
              <a:ext uri="{FF2B5EF4-FFF2-40B4-BE49-F238E27FC236}">
                <a16:creationId xmlns:a16="http://schemas.microsoft.com/office/drawing/2014/main" id="{84AB896B-6545-4157-A808-9AD4133C1AC4}"/>
              </a:ext>
            </a:extLst>
          </p:cNvPr>
          <p:cNvSpPr>
            <a:spLocks noGrp="1"/>
          </p:cNvSpPr>
          <p:nvPr/>
        </p:nvSpPr>
        <p:spPr>
          <a:xfrm>
            <a:off x="3714750" y="442912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Refine the interface and technical approach for selected work. This tests assumptions before expanding the solution.</a:t>
            </a:r>
          </a:p>
        </p:txBody>
      </p:sp>
      <p:sp>
        <p:nvSpPr>
          <p:cNvPr id="10" name="phase-iteration-explanation">
            <a:extLst>
              <a:ext uri="{FF2B5EF4-FFF2-40B4-BE49-F238E27FC236}">
                <a16:creationId xmlns:a16="http://schemas.microsoft.com/office/drawing/2014/main" id="{CBCFA5C2-C74D-4C53-B8CF-4976BD290329}"/>
              </a:ext>
            </a:extLst>
          </p:cNvPr>
          <p:cNvSpPr>
            <a:spLocks noGrp="1"/>
          </p:cNvSpPr>
          <p:nvPr/>
        </p:nvSpPr>
        <p:spPr>
          <a:xfrm>
            <a:off x="609600" y="5819775"/>
            <a:ext cx="10972800" cy="381000"/>
          </a:xfrm>
          <a:prstGeom prst="rect">
            <a:avLst/>
          </a:prstGeom>
          <a:noFill/>
          <a:ln w="0">
            <a:noFill/>
            <a:prstDash val="solid"/>
          </a:ln>
        </p:spPr>
        <p:txBody>
          <a:bodyPr lIns="0" tIns="0" rIns="0" bIns="0"/>
          <a:lstStyle>
            <a:defPPr>
              <a:defRPr sz="1725" b="1">
                <a:solidFill>
                  <a:srgbClr val="087E8B"/>
                </a:solidFill>
                <a:latin typeface="DejaVu Sans"/>
                <a:ea typeface="DejaVu Sans"/>
                <a:cs typeface="DejaVu Sans"/>
              </a:defRPr>
            </a:defPPr>
            <a:lvl1pPr>
              <a:defRPr sz="1725" b="1">
                <a:solidFill>
                  <a:srgbClr val="087E8B"/>
                </a:solidFill>
                <a:latin typeface="DejaVu Sans"/>
                <a:ea typeface="DejaVu Sans"/>
                <a:cs typeface="DejaVu Sans"/>
              </a:defRPr>
            </a:lvl1pPr>
            <a:lvl2pPr>
              <a:defRPr sz="1725" b="1">
                <a:solidFill>
                  <a:srgbClr val="087E8B"/>
                </a:solidFill>
                <a:latin typeface="DejaVu Sans"/>
                <a:ea typeface="DejaVu Sans"/>
                <a:cs typeface="DejaVu Sans"/>
              </a:defRPr>
            </a:lvl2pPr>
            <a:lvl3pPr>
              <a:defRPr sz="1725" b="1">
                <a:solidFill>
                  <a:srgbClr val="087E8B"/>
                </a:solidFill>
                <a:latin typeface="DejaVu Sans"/>
                <a:ea typeface="DejaVu Sans"/>
                <a:cs typeface="DejaVu Sans"/>
              </a:defRPr>
            </a:lvl3pPr>
            <a:lvl4pPr>
              <a:defRPr sz="1725" b="1">
                <a:solidFill>
                  <a:srgbClr val="087E8B"/>
                </a:solidFill>
                <a:latin typeface="DejaVu Sans"/>
                <a:ea typeface="DejaVu Sans"/>
                <a:cs typeface="DejaVu Sans"/>
              </a:defRPr>
            </a:lvl4pPr>
            <a:lvl5pPr>
              <a:defRPr sz="1725" b="1">
                <a:solidFill>
                  <a:srgbClr val="087E8B"/>
                </a:solidFill>
                <a:latin typeface="DejaVu Sans"/>
                <a:ea typeface="DejaVu Sans"/>
                <a:cs typeface="DejaVu Sans"/>
              </a:defRPr>
            </a:lvl5pPr>
            <a:lvl6pPr>
              <a:defRPr sz="1725" b="1">
                <a:solidFill>
                  <a:srgbClr val="087E8B"/>
                </a:solidFill>
                <a:latin typeface="DejaVu Sans"/>
                <a:ea typeface="DejaVu Sans"/>
                <a:cs typeface="DejaVu Sans"/>
              </a:defRPr>
            </a:lvl6pPr>
            <a:lvl7pPr>
              <a:defRPr sz="1725" b="1">
                <a:solidFill>
                  <a:srgbClr val="087E8B"/>
                </a:solidFill>
                <a:latin typeface="DejaVu Sans"/>
                <a:ea typeface="DejaVu Sans"/>
                <a:cs typeface="DejaVu Sans"/>
              </a:defRPr>
            </a:lvl7pPr>
            <a:lvl8pPr>
              <a:defRPr sz="1725" b="1">
                <a:solidFill>
                  <a:srgbClr val="087E8B"/>
                </a:solidFill>
                <a:latin typeface="DejaVu Sans"/>
                <a:ea typeface="DejaVu Sans"/>
                <a:cs typeface="DejaVu Sans"/>
              </a:defRPr>
            </a:lvl8pPr>
            <a:lvl9pPr>
              <a:defRPr sz="1725" b="1">
                <a:solidFill>
                  <a:srgbClr val="087E8B"/>
                </a:solidFill>
                <a:latin typeface="DejaVu Sans"/>
                <a:ea typeface="DejaVu Sans"/>
                <a:cs typeface="DejaVu Sans"/>
              </a:defRPr>
            </a:lvl9pPr>
          </a:lstStyle>
          <a:p>
            <a:pPr>
              <a:defRPr sz="1725" b="1">
                <a:solidFill>
                  <a:srgbClr val="087E8B"/>
                </a:solidFill>
                <a:latin typeface="DejaVu Sans"/>
                <a:ea typeface="DejaVu Sans"/>
                <a:cs typeface="DejaVu Sans"/>
              </a:defRPr>
            </a:pPr>
            <a:r>
              <a:rPr sz="1725" b="1">
                <a:solidFill>
                  <a:srgbClr val="087E8B"/>
                </a:solidFill>
                <a:latin typeface="DejaVu Sans"/>
                <a:ea typeface="DejaVu Sans"/>
                <a:cs typeface="DejaVu Sans"/>
              </a:rPr>
              <a:t>Agile revisits these phases for each increment as requirements evolve.</a:t>
            </a:r>
          </a:p>
        </p:txBody>
      </p:sp>
    </p:spTree>
    <p:extLst>
      <p:ext uri="{BB962C8B-B14F-4D97-AF65-F5344CB8AC3E}">
        <p14:creationId xmlns:p14="http://schemas.microsoft.com/office/powerpoint/2010/main" val="1226208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2BAFD9A5-1687-47B8-B2CA-9D6900FE725E}"/>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Agile SDLC phases 4–7</a:t>
            </a:r>
          </a:p>
        </p:txBody>
      </p:sp>
      <p:sp>
        <p:nvSpPr>
          <p:cNvPr id="2" name="text-1">
            <a:extLst>
              <a:ext uri="{FF2B5EF4-FFF2-40B4-BE49-F238E27FC236}">
                <a16:creationId xmlns:a16="http://schemas.microsoft.com/office/drawing/2014/main" id="{1E3C519D-6D85-490C-BCD7-FA3C94EB1BA8}"/>
              </a:ext>
            </a:extLst>
          </p:cNvPr>
          <p:cNvSpPr>
            <a:spLocks noGrp="1"/>
          </p:cNvSpPr>
          <p:nvPr/>
        </p:nvSpPr>
        <p:spPr>
          <a:xfrm>
            <a:off x="609600" y="6334125"/>
            <a:ext cx="10972800" cy="323850"/>
          </a:xfrm>
          <a:prstGeom prst="rect">
            <a:avLst/>
          </a:prstGeom>
          <a:noFill/>
          <a:ln w="0">
            <a:noFill/>
            <a:prstDash val="solid"/>
          </a:ln>
        </p:spPr>
        <p:txBody>
          <a:bodyPr lIns="0" tIns="0" rIns="0" bIns="0"/>
          <a:lstStyle>
            <a:defPPr>
              <a:defRPr sz="1275" b="0">
                <a:solidFill>
                  <a:srgbClr val="475569"/>
                </a:solidFill>
                <a:latin typeface="DejaVu Sans"/>
                <a:ea typeface="DejaVu Sans"/>
                <a:cs typeface="DejaVu Sans"/>
              </a:defRPr>
            </a:defPPr>
            <a:lvl1pPr>
              <a:defRPr sz="1275" b="0">
                <a:solidFill>
                  <a:srgbClr val="475569"/>
                </a:solidFill>
                <a:latin typeface="DejaVu Sans"/>
                <a:ea typeface="DejaVu Sans"/>
                <a:cs typeface="DejaVu Sans"/>
              </a:defRPr>
            </a:lvl1pPr>
            <a:lvl2pPr>
              <a:defRPr sz="1275" b="0">
                <a:solidFill>
                  <a:srgbClr val="475569"/>
                </a:solidFill>
                <a:latin typeface="DejaVu Sans"/>
                <a:ea typeface="DejaVu Sans"/>
                <a:cs typeface="DejaVu Sans"/>
              </a:defRPr>
            </a:lvl2pPr>
            <a:lvl3pPr>
              <a:defRPr sz="1275" b="0">
                <a:solidFill>
                  <a:srgbClr val="475569"/>
                </a:solidFill>
                <a:latin typeface="DejaVu Sans"/>
                <a:ea typeface="DejaVu Sans"/>
                <a:cs typeface="DejaVu Sans"/>
              </a:defRPr>
            </a:lvl3pPr>
            <a:lvl4pPr>
              <a:defRPr sz="1275" b="0">
                <a:solidFill>
                  <a:srgbClr val="475569"/>
                </a:solidFill>
                <a:latin typeface="DejaVu Sans"/>
                <a:ea typeface="DejaVu Sans"/>
                <a:cs typeface="DejaVu Sans"/>
              </a:defRPr>
            </a:lvl4pPr>
            <a:lvl5pPr>
              <a:defRPr sz="1275" b="0">
                <a:solidFill>
                  <a:srgbClr val="475569"/>
                </a:solidFill>
                <a:latin typeface="DejaVu Sans"/>
                <a:ea typeface="DejaVu Sans"/>
                <a:cs typeface="DejaVu Sans"/>
              </a:defRPr>
            </a:lvl5pPr>
            <a:lvl6pPr>
              <a:defRPr sz="1275" b="0">
                <a:solidFill>
                  <a:srgbClr val="475569"/>
                </a:solidFill>
                <a:latin typeface="DejaVu Sans"/>
                <a:ea typeface="DejaVu Sans"/>
                <a:cs typeface="DejaVu Sans"/>
              </a:defRPr>
            </a:lvl6pPr>
            <a:lvl7pPr>
              <a:defRPr sz="1275" b="0">
                <a:solidFill>
                  <a:srgbClr val="475569"/>
                </a:solidFill>
                <a:latin typeface="DejaVu Sans"/>
                <a:ea typeface="DejaVu Sans"/>
                <a:cs typeface="DejaVu Sans"/>
              </a:defRPr>
            </a:lvl7pPr>
            <a:lvl8pPr>
              <a:defRPr sz="1275" b="0">
                <a:solidFill>
                  <a:srgbClr val="475569"/>
                </a:solidFill>
                <a:latin typeface="DejaVu Sans"/>
                <a:ea typeface="DejaVu Sans"/>
                <a:cs typeface="DejaVu Sans"/>
              </a:defRPr>
            </a:lvl8pPr>
            <a:lvl9pPr>
              <a:defRPr sz="1275" b="0">
                <a:solidFill>
                  <a:srgbClr val="475569"/>
                </a:solidFill>
                <a:latin typeface="DejaVu Sans"/>
                <a:ea typeface="DejaVu Sans"/>
                <a:cs typeface="DejaVu Sans"/>
              </a:defRPr>
            </a:lvl9pPr>
          </a:lstStyle>
          <a:p>
            <a:pPr>
              <a:buNone/>
              <a:defRPr sz="1275" b="0">
                <a:solidFill>
                  <a:srgbClr val="475569"/>
                </a:solidFill>
                <a:latin typeface="DejaVu Sans"/>
                <a:ea typeface="DejaVu Sans"/>
                <a:cs typeface="DejaVu Sans"/>
              </a:defRPr>
            </a:pPr>
            <a:r>
              <a:rPr sz="1275" b="0">
                <a:solidFill>
                  <a:srgbClr val="475569"/>
                </a:solidFill>
                <a:latin typeface="DejaVu Sans"/>
                <a:ea typeface="DejaVu Sans"/>
                <a:cs typeface="DejaVu Sans"/>
              </a:rPr>
              <a:t>(Jackson et al., n.d.; Ripley, 2024)</a:t>
            </a:r>
          </a:p>
        </p:txBody>
      </p:sp>
      <p:sp>
        <p:nvSpPr>
          <p:cNvPr id="3" name="text-2">
            <a:extLst>
              <a:ext uri="{FF2B5EF4-FFF2-40B4-BE49-F238E27FC236}">
                <a16:creationId xmlns:a16="http://schemas.microsoft.com/office/drawing/2014/main" id="{170FA37F-D49D-457B-AC69-EF46D4AE76BA}"/>
              </a:ext>
            </a:extLst>
          </p:cNvPr>
          <p:cNvSpPr>
            <a:spLocks noGrp="1"/>
          </p:cNvSpPr>
          <p:nvPr/>
        </p:nvSpPr>
        <p:spPr>
          <a:xfrm>
            <a:off x="609600" y="1428750"/>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4  Development</a:t>
            </a:r>
          </a:p>
        </p:txBody>
      </p:sp>
      <p:sp>
        <p:nvSpPr>
          <p:cNvPr id="4" name="text-3">
            <a:extLst>
              <a:ext uri="{FF2B5EF4-FFF2-40B4-BE49-F238E27FC236}">
                <a16:creationId xmlns:a16="http://schemas.microsoft.com/office/drawing/2014/main" id="{E85240F8-8070-4869-BC7B-E10459289A29}"/>
              </a:ext>
            </a:extLst>
          </p:cNvPr>
          <p:cNvSpPr>
            <a:spLocks noGrp="1"/>
          </p:cNvSpPr>
          <p:nvPr/>
        </p:nvSpPr>
        <p:spPr>
          <a:xfrm>
            <a:off x="3714750" y="1428750"/>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Implement a small change, such as the wellness content update. Existing navigation can remain usable.</a:t>
            </a:r>
          </a:p>
        </p:txBody>
      </p:sp>
      <p:sp>
        <p:nvSpPr>
          <p:cNvPr id="5" name="text-4">
            <a:extLst>
              <a:ext uri="{FF2B5EF4-FFF2-40B4-BE49-F238E27FC236}">
                <a16:creationId xmlns:a16="http://schemas.microsoft.com/office/drawing/2014/main" id="{D52D7680-487B-4200-8F93-6E58BF273C59}"/>
              </a:ext>
            </a:extLst>
          </p:cNvPr>
          <p:cNvSpPr>
            <a:spLocks noGrp="1"/>
          </p:cNvSpPr>
          <p:nvPr/>
        </p:nvSpPr>
        <p:spPr>
          <a:xfrm>
            <a:off x="609600" y="2571750"/>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5  Testing</a:t>
            </a:r>
          </a:p>
        </p:txBody>
      </p:sp>
      <p:sp>
        <p:nvSpPr>
          <p:cNvPr id="6" name="text-5">
            <a:extLst>
              <a:ext uri="{FF2B5EF4-FFF2-40B4-BE49-F238E27FC236}">
                <a16:creationId xmlns:a16="http://schemas.microsoft.com/office/drawing/2014/main" id="{E9EC0D56-F8E4-4F87-9320-08FEAD8D67CB}"/>
              </a:ext>
            </a:extLst>
          </p:cNvPr>
          <p:cNvSpPr>
            <a:spLocks noGrp="1"/>
          </p:cNvSpPr>
          <p:nvPr/>
        </p:nvSpPr>
        <p:spPr>
          <a:xfrm>
            <a:off x="3714750" y="2571750"/>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Check acceptance criteria and repeat relevant tests after changes. This exposes regressions while the work is small.</a:t>
            </a:r>
          </a:p>
        </p:txBody>
      </p:sp>
      <p:sp>
        <p:nvSpPr>
          <p:cNvPr id="7" name="text-6">
            <a:extLst>
              <a:ext uri="{FF2B5EF4-FFF2-40B4-BE49-F238E27FC236}">
                <a16:creationId xmlns:a16="http://schemas.microsoft.com/office/drawing/2014/main" id="{E46CCCAE-CFD7-46CF-8AF0-747D89AA28E3}"/>
              </a:ext>
            </a:extLst>
          </p:cNvPr>
          <p:cNvSpPr>
            <a:spLocks noGrp="1"/>
          </p:cNvSpPr>
          <p:nvPr/>
        </p:nvSpPr>
        <p:spPr>
          <a:xfrm>
            <a:off x="609600" y="3714750"/>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6  Deployment</a:t>
            </a:r>
          </a:p>
        </p:txBody>
      </p:sp>
      <p:sp>
        <p:nvSpPr>
          <p:cNvPr id="8" name="text-7">
            <a:extLst>
              <a:ext uri="{FF2B5EF4-FFF2-40B4-BE49-F238E27FC236}">
                <a16:creationId xmlns:a16="http://schemas.microsoft.com/office/drawing/2014/main" id="{AE10A27A-3543-4526-B870-571DE050B258}"/>
              </a:ext>
            </a:extLst>
          </p:cNvPr>
          <p:cNvSpPr>
            <a:spLocks noGrp="1"/>
          </p:cNvSpPr>
          <p:nvPr/>
        </p:nvSpPr>
        <p:spPr>
          <a:xfrm>
            <a:off x="3714750" y="3714750"/>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Release a tested increment when appropriate. Packaging the JAR prepares the application for delivery.</a:t>
            </a:r>
          </a:p>
        </p:txBody>
      </p:sp>
      <p:sp>
        <p:nvSpPr>
          <p:cNvPr id="9" name="text-8">
            <a:extLst>
              <a:ext uri="{FF2B5EF4-FFF2-40B4-BE49-F238E27FC236}">
                <a16:creationId xmlns:a16="http://schemas.microsoft.com/office/drawing/2014/main" id="{684B15A1-6209-4B63-A925-BF1F53A63B71}"/>
              </a:ext>
            </a:extLst>
          </p:cNvPr>
          <p:cNvSpPr>
            <a:spLocks noGrp="1"/>
          </p:cNvSpPr>
          <p:nvPr/>
        </p:nvSpPr>
        <p:spPr>
          <a:xfrm>
            <a:off x="609600" y="4857750"/>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7  Maintenance</a:t>
            </a:r>
          </a:p>
        </p:txBody>
      </p:sp>
      <p:sp>
        <p:nvSpPr>
          <p:cNvPr id="10" name="text-9">
            <a:extLst>
              <a:ext uri="{FF2B5EF4-FFF2-40B4-BE49-F238E27FC236}">
                <a16:creationId xmlns:a16="http://schemas.microsoft.com/office/drawing/2014/main" id="{4E0DE407-36A5-440F-B93A-2AB6BAC6CCF7}"/>
              </a:ext>
            </a:extLst>
          </p:cNvPr>
          <p:cNvSpPr>
            <a:spLocks noGrp="1"/>
          </p:cNvSpPr>
          <p:nvPr/>
        </p:nvSpPr>
        <p:spPr>
          <a:xfrm>
            <a:off x="3714750" y="4857750"/>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Use defects and feedback to prioritize improvements. This keeps the product responsive after delivery.</a:t>
            </a:r>
          </a:p>
        </p:txBody>
      </p:sp>
      <p:sp>
        <p:nvSpPr>
          <p:cNvPr id="12" name="phase-iteration-explanation">
            <a:extLst>
              <a:ext uri="{FF2B5EF4-FFF2-40B4-BE49-F238E27FC236}">
                <a16:creationId xmlns:a16="http://schemas.microsoft.com/office/drawing/2014/main" id="{EC1596D0-DE84-46FB-8F0F-FF80C3E68311}"/>
              </a:ext>
            </a:extLst>
          </p:cNvPr>
          <p:cNvSpPr>
            <a:spLocks noGrp="1"/>
          </p:cNvSpPr>
          <p:nvPr/>
        </p:nvSpPr>
        <p:spPr>
          <a:xfrm>
            <a:off x="609600" y="5819775"/>
            <a:ext cx="10972800" cy="381000"/>
          </a:xfrm>
          <a:prstGeom prst="rect">
            <a:avLst/>
          </a:prstGeom>
          <a:noFill/>
          <a:ln w="0">
            <a:noFill/>
            <a:prstDash val="solid"/>
          </a:ln>
        </p:spPr>
        <p:txBody>
          <a:bodyPr lIns="0" tIns="0" rIns="0" bIns="0"/>
          <a:lstStyle>
            <a:defPPr>
              <a:defRPr sz="1725" b="1">
                <a:solidFill>
                  <a:srgbClr val="087E8B"/>
                </a:solidFill>
                <a:latin typeface="DejaVu Sans"/>
                <a:ea typeface="DejaVu Sans"/>
                <a:cs typeface="DejaVu Sans"/>
              </a:defRPr>
            </a:defPPr>
            <a:lvl1pPr>
              <a:defRPr sz="1725" b="1">
                <a:solidFill>
                  <a:srgbClr val="087E8B"/>
                </a:solidFill>
                <a:latin typeface="DejaVu Sans"/>
                <a:ea typeface="DejaVu Sans"/>
                <a:cs typeface="DejaVu Sans"/>
              </a:defRPr>
            </a:lvl1pPr>
            <a:lvl2pPr>
              <a:defRPr sz="1725" b="1">
                <a:solidFill>
                  <a:srgbClr val="087E8B"/>
                </a:solidFill>
                <a:latin typeface="DejaVu Sans"/>
                <a:ea typeface="DejaVu Sans"/>
                <a:cs typeface="DejaVu Sans"/>
              </a:defRPr>
            </a:lvl2pPr>
            <a:lvl3pPr>
              <a:defRPr sz="1725" b="1">
                <a:solidFill>
                  <a:srgbClr val="087E8B"/>
                </a:solidFill>
                <a:latin typeface="DejaVu Sans"/>
                <a:ea typeface="DejaVu Sans"/>
                <a:cs typeface="DejaVu Sans"/>
              </a:defRPr>
            </a:lvl3pPr>
            <a:lvl4pPr>
              <a:defRPr sz="1725" b="1">
                <a:solidFill>
                  <a:srgbClr val="087E8B"/>
                </a:solidFill>
                <a:latin typeface="DejaVu Sans"/>
                <a:ea typeface="DejaVu Sans"/>
                <a:cs typeface="DejaVu Sans"/>
              </a:defRPr>
            </a:lvl4pPr>
            <a:lvl5pPr>
              <a:defRPr sz="1725" b="1">
                <a:solidFill>
                  <a:srgbClr val="087E8B"/>
                </a:solidFill>
                <a:latin typeface="DejaVu Sans"/>
                <a:ea typeface="DejaVu Sans"/>
                <a:cs typeface="DejaVu Sans"/>
              </a:defRPr>
            </a:lvl5pPr>
            <a:lvl6pPr>
              <a:defRPr sz="1725" b="1">
                <a:solidFill>
                  <a:srgbClr val="087E8B"/>
                </a:solidFill>
                <a:latin typeface="DejaVu Sans"/>
                <a:ea typeface="DejaVu Sans"/>
                <a:cs typeface="DejaVu Sans"/>
              </a:defRPr>
            </a:lvl6pPr>
            <a:lvl7pPr>
              <a:defRPr sz="1725" b="1">
                <a:solidFill>
                  <a:srgbClr val="087E8B"/>
                </a:solidFill>
                <a:latin typeface="DejaVu Sans"/>
                <a:ea typeface="DejaVu Sans"/>
                <a:cs typeface="DejaVu Sans"/>
              </a:defRPr>
            </a:lvl7pPr>
            <a:lvl8pPr>
              <a:defRPr sz="1725" b="1">
                <a:solidFill>
                  <a:srgbClr val="087E8B"/>
                </a:solidFill>
                <a:latin typeface="DejaVu Sans"/>
                <a:ea typeface="DejaVu Sans"/>
                <a:cs typeface="DejaVu Sans"/>
              </a:defRPr>
            </a:lvl8pPr>
            <a:lvl9pPr>
              <a:defRPr sz="1725" b="1">
                <a:solidFill>
                  <a:srgbClr val="087E8B"/>
                </a:solidFill>
                <a:latin typeface="DejaVu Sans"/>
                <a:ea typeface="DejaVu Sans"/>
                <a:cs typeface="DejaVu Sans"/>
              </a:defRPr>
            </a:lvl9pPr>
          </a:lstStyle>
          <a:p>
            <a:pPr>
              <a:defRPr sz="1725" b="1">
                <a:solidFill>
                  <a:srgbClr val="087E8B"/>
                </a:solidFill>
                <a:latin typeface="DejaVu Sans"/>
                <a:ea typeface="DejaVu Sans"/>
                <a:cs typeface="DejaVu Sans"/>
              </a:defRPr>
            </a:pPr>
            <a:r>
              <a:rPr sz="1725" b="1">
                <a:solidFill>
                  <a:srgbClr val="087E8B"/>
                </a:solidFill>
                <a:latin typeface="DejaVu Sans"/>
                <a:ea typeface="DejaVu Sans"/>
                <a:cs typeface="DejaVu Sans"/>
              </a:rPr>
              <a:t>Testing and feedback inform the next increment across these phases.</a:t>
            </a:r>
          </a:p>
        </p:txBody>
      </p:sp>
    </p:spTree>
    <p:extLst>
      <p:ext uri="{BB962C8B-B14F-4D97-AF65-F5344CB8AC3E}">
        <p14:creationId xmlns:p14="http://schemas.microsoft.com/office/powerpoint/2010/main" val="1819986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604FA2E3-0BD8-4F39-8A8D-2091B82B5863}"/>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Scrum events and visible work</a:t>
            </a:r>
          </a:p>
        </p:txBody>
      </p:sp>
      <p:sp>
        <p:nvSpPr>
          <p:cNvPr id="2" name="text-1">
            <a:extLst>
              <a:ext uri="{FF2B5EF4-FFF2-40B4-BE49-F238E27FC236}">
                <a16:creationId xmlns:a16="http://schemas.microsoft.com/office/drawing/2014/main" id="{B9237C70-7C59-443B-A38B-FAB9A09B499A}"/>
              </a:ext>
            </a:extLst>
          </p:cNvPr>
          <p:cNvSpPr>
            <a:spLocks noGrp="1"/>
          </p:cNvSpPr>
          <p:nvPr/>
        </p:nvSpPr>
        <p:spPr>
          <a:xfrm>
            <a:off x="609600" y="6334125"/>
            <a:ext cx="10972800" cy="323850"/>
          </a:xfrm>
          <a:prstGeom prst="rect">
            <a:avLst/>
          </a:prstGeom>
          <a:noFill/>
          <a:ln w="0">
            <a:noFill/>
            <a:prstDash val="solid"/>
          </a:ln>
        </p:spPr>
        <p:txBody>
          <a:bodyPr lIns="0" tIns="0" rIns="0" bIns="0"/>
          <a:lstStyle>
            <a:defPPr>
              <a:defRPr sz="1275" b="0">
                <a:solidFill>
                  <a:srgbClr val="475569"/>
                </a:solidFill>
                <a:latin typeface="DejaVu Sans"/>
                <a:ea typeface="DejaVu Sans"/>
                <a:cs typeface="DejaVu Sans"/>
              </a:defRPr>
            </a:defPPr>
            <a:lvl1pPr>
              <a:defRPr sz="1275" b="0">
                <a:solidFill>
                  <a:srgbClr val="475569"/>
                </a:solidFill>
                <a:latin typeface="DejaVu Sans"/>
                <a:ea typeface="DejaVu Sans"/>
                <a:cs typeface="DejaVu Sans"/>
              </a:defRPr>
            </a:lvl1pPr>
            <a:lvl2pPr>
              <a:defRPr sz="1275" b="0">
                <a:solidFill>
                  <a:srgbClr val="475569"/>
                </a:solidFill>
                <a:latin typeface="DejaVu Sans"/>
                <a:ea typeface="DejaVu Sans"/>
                <a:cs typeface="DejaVu Sans"/>
              </a:defRPr>
            </a:lvl2pPr>
            <a:lvl3pPr>
              <a:defRPr sz="1275" b="0">
                <a:solidFill>
                  <a:srgbClr val="475569"/>
                </a:solidFill>
                <a:latin typeface="DejaVu Sans"/>
                <a:ea typeface="DejaVu Sans"/>
                <a:cs typeface="DejaVu Sans"/>
              </a:defRPr>
            </a:lvl3pPr>
            <a:lvl4pPr>
              <a:defRPr sz="1275" b="0">
                <a:solidFill>
                  <a:srgbClr val="475569"/>
                </a:solidFill>
                <a:latin typeface="DejaVu Sans"/>
                <a:ea typeface="DejaVu Sans"/>
                <a:cs typeface="DejaVu Sans"/>
              </a:defRPr>
            </a:lvl4pPr>
            <a:lvl5pPr>
              <a:defRPr sz="1275" b="0">
                <a:solidFill>
                  <a:srgbClr val="475569"/>
                </a:solidFill>
                <a:latin typeface="DejaVu Sans"/>
                <a:ea typeface="DejaVu Sans"/>
                <a:cs typeface="DejaVu Sans"/>
              </a:defRPr>
            </a:lvl5pPr>
            <a:lvl6pPr>
              <a:defRPr sz="1275" b="0">
                <a:solidFill>
                  <a:srgbClr val="475569"/>
                </a:solidFill>
                <a:latin typeface="DejaVu Sans"/>
                <a:ea typeface="DejaVu Sans"/>
                <a:cs typeface="DejaVu Sans"/>
              </a:defRPr>
            </a:lvl6pPr>
            <a:lvl7pPr>
              <a:defRPr sz="1275" b="0">
                <a:solidFill>
                  <a:srgbClr val="475569"/>
                </a:solidFill>
                <a:latin typeface="DejaVu Sans"/>
                <a:ea typeface="DejaVu Sans"/>
                <a:cs typeface="DejaVu Sans"/>
              </a:defRPr>
            </a:lvl7pPr>
            <a:lvl8pPr>
              <a:defRPr sz="1275" b="0">
                <a:solidFill>
                  <a:srgbClr val="475569"/>
                </a:solidFill>
                <a:latin typeface="DejaVu Sans"/>
                <a:ea typeface="DejaVu Sans"/>
                <a:cs typeface="DejaVu Sans"/>
              </a:defRPr>
            </a:lvl8pPr>
            <a:lvl9pPr>
              <a:defRPr sz="1275" b="0">
                <a:solidFill>
                  <a:srgbClr val="475569"/>
                </a:solidFill>
                <a:latin typeface="DejaVu Sans"/>
                <a:ea typeface="DejaVu Sans"/>
                <a:cs typeface="DejaVu Sans"/>
              </a:defRPr>
            </a:lvl9pPr>
          </a:lstStyle>
          <a:p>
            <a:pPr>
              <a:buNone/>
              <a:defRPr sz="1275" b="0">
                <a:solidFill>
                  <a:srgbClr val="475569"/>
                </a:solidFill>
                <a:latin typeface="DejaVu Sans"/>
                <a:ea typeface="DejaVu Sans"/>
                <a:cs typeface="DejaVu Sans"/>
              </a:defRPr>
            </a:pPr>
            <a:r>
              <a:rPr sz="1275" b="0">
                <a:solidFill>
                  <a:srgbClr val="475569"/>
                </a:solidFill>
                <a:latin typeface="DejaVu Sans"/>
                <a:ea typeface="DejaVu Sans"/>
                <a:cs typeface="DejaVu Sans"/>
              </a:rPr>
              <a:t>(Schwaber &amp; Sutherland, 2020; Strombeck, 2023)</a:t>
            </a:r>
          </a:p>
        </p:txBody>
      </p:sp>
      <p:sp>
        <p:nvSpPr>
          <p:cNvPr id="3" name="text-2">
            <a:extLst>
              <a:ext uri="{FF2B5EF4-FFF2-40B4-BE49-F238E27FC236}">
                <a16:creationId xmlns:a16="http://schemas.microsoft.com/office/drawing/2014/main" id="{E57B0A8E-592C-4887-9BF9-F6FB76AE425A}"/>
              </a:ext>
            </a:extLst>
          </p:cNvPr>
          <p:cNvSpPr>
            <a:spLocks noGrp="1"/>
          </p:cNvSpPr>
          <p:nvPr/>
        </p:nvSpPr>
        <p:spPr>
          <a:xfrm>
            <a:off x="609600" y="147637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Sprint Planning</a:t>
            </a:r>
          </a:p>
        </p:txBody>
      </p:sp>
      <p:sp>
        <p:nvSpPr>
          <p:cNvPr id="4" name="text-3">
            <a:extLst>
              <a:ext uri="{FF2B5EF4-FFF2-40B4-BE49-F238E27FC236}">
                <a16:creationId xmlns:a16="http://schemas.microsoft.com/office/drawing/2014/main" id="{D4C929D0-AC48-4EE8-BDB3-E51E4BD17DD6}"/>
              </a:ext>
            </a:extLst>
          </p:cNvPr>
          <p:cNvSpPr>
            <a:spLocks noGrp="1"/>
          </p:cNvSpPr>
          <p:nvPr/>
        </p:nvSpPr>
        <p:spPr>
          <a:xfrm>
            <a:off x="3714750" y="147637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Align the goal, selected backlog items, and a feasible plan.</a:t>
            </a:r>
          </a:p>
        </p:txBody>
      </p:sp>
      <p:sp>
        <p:nvSpPr>
          <p:cNvPr id="5" name="text-4">
            <a:extLst>
              <a:ext uri="{FF2B5EF4-FFF2-40B4-BE49-F238E27FC236}">
                <a16:creationId xmlns:a16="http://schemas.microsoft.com/office/drawing/2014/main" id="{40A25A23-15C3-4DB0-91EA-FF33D6F842F1}"/>
              </a:ext>
            </a:extLst>
          </p:cNvPr>
          <p:cNvSpPr>
            <a:spLocks noGrp="1"/>
          </p:cNvSpPr>
          <p:nvPr/>
        </p:nvSpPr>
        <p:spPr>
          <a:xfrm>
            <a:off x="609600" y="252412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Daily Scrum</a:t>
            </a:r>
          </a:p>
        </p:txBody>
      </p:sp>
      <p:sp>
        <p:nvSpPr>
          <p:cNvPr id="6" name="text-5">
            <a:extLst>
              <a:ext uri="{FF2B5EF4-FFF2-40B4-BE49-F238E27FC236}">
                <a16:creationId xmlns:a16="http://schemas.microsoft.com/office/drawing/2014/main" id="{26543B72-2B3D-4D7A-9F60-0AFC8A5F0665}"/>
              </a:ext>
            </a:extLst>
          </p:cNvPr>
          <p:cNvSpPr>
            <a:spLocks noGrp="1"/>
          </p:cNvSpPr>
          <p:nvPr/>
        </p:nvSpPr>
        <p:spPr>
          <a:xfrm>
            <a:off x="3714750" y="252412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Developers inspect progress and adapt their plan using visible work and blockers.</a:t>
            </a:r>
          </a:p>
        </p:txBody>
      </p:sp>
      <p:sp>
        <p:nvSpPr>
          <p:cNvPr id="7" name="text-6">
            <a:extLst>
              <a:ext uri="{FF2B5EF4-FFF2-40B4-BE49-F238E27FC236}">
                <a16:creationId xmlns:a16="http://schemas.microsoft.com/office/drawing/2014/main" id="{1F7E32A0-4B31-4F4D-B2F8-809A57DA0DB6}"/>
              </a:ext>
            </a:extLst>
          </p:cNvPr>
          <p:cNvSpPr>
            <a:spLocks noGrp="1"/>
          </p:cNvSpPr>
          <p:nvPr/>
        </p:nvSpPr>
        <p:spPr>
          <a:xfrm>
            <a:off x="609600" y="357187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Sprint Review</a:t>
            </a:r>
          </a:p>
        </p:txBody>
      </p:sp>
      <p:sp>
        <p:nvSpPr>
          <p:cNvPr id="8" name="text-7">
            <a:extLst>
              <a:ext uri="{FF2B5EF4-FFF2-40B4-BE49-F238E27FC236}">
                <a16:creationId xmlns:a16="http://schemas.microsoft.com/office/drawing/2014/main" id="{7BFACC96-8DF1-42D9-85D9-57DA709AE150}"/>
              </a:ext>
            </a:extLst>
          </p:cNvPr>
          <p:cNvSpPr>
            <a:spLocks noGrp="1"/>
          </p:cNvSpPr>
          <p:nvPr/>
        </p:nvSpPr>
        <p:spPr>
          <a:xfrm>
            <a:off x="3714750" y="357187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The team and stakeholders inspect product results and discuss adaptations.</a:t>
            </a:r>
          </a:p>
        </p:txBody>
      </p:sp>
      <p:sp>
        <p:nvSpPr>
          <p:cNvPr id="9" name="text-8">
            <a:extLst>
              <a:ext uri="{FF2B5EF4-FFF2-40B4-BE49-F238E27FC236}">
                <a16:creationId xmlns:a16="http://schemas.microsoft.com/office/drawing/2014/main" id="{28F80072-B58E-4F50-AF80-C04CD1006A98}"/>
              </a:ext>
            </a:extLst>
          </p:cNvPr>
          <p:cNvSpPr>
            <a:spLocks noGrp="1"/>
          </p:cNvSpPr>
          <p:nvPr/>
        </p:nvSpPr>
        <p:spPr>
          <a:xfrm>
            <a:off x="609600" y="461962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Retrospective</a:t>
            </a:r>
          </a:p>
        </p:txBody>
      </p:sp>
      <p:sp>
        <p:nvSpPr>
          <p:cNvPr id="10" name="text-9">
            <a:extLst>
              <a:ext uri="{FF2B5EF4-FFF2-40B4-BE49-F238E27FC236}">
                <a16:creationId xmlns:a16="http://schemas.microsoft.com/office/drawing/2014/main" id="{BAECBB3C-44AB-4A64-95A6-4FADDB77384E}"/>
              </a:ext>
            </a:extLst>
          </p:cNvPr>
          <p:cNvSpPr>
            <a:spLocks noGrp="1"/>
          </p:cNvSpPr>
          <p:nvPr/>
        </p:nvSpPr>
        <p:spPr>
          <a:xfrm>
            <a:off x="3714750" y="461962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The team examines its process and chooses improvements to follow up.</a:t>
            </a:r>
          </a:p>
        </p:txBody>
      </p:sp>
      <p:sp>
        <p:nvSpPr>
          <p:cNvPr id="11" name="text-10">
            <a:extLst>
              <a:ext uri="{FF2B5EF4-FFF2-40B4-BE49-F238E27FC236}">
                <a16:creationId xmlns:a16="http://schemas.microsoft.com/office/drawing/2014/main" id="{3A18F7F9-1C88-4E42-862F-910A5B3BE1DD}"/>
              </a:ext>
            </a:extLst>
          </p:cNvPr>
          <p:cNvSpPr>
            <a:spLocks noGrp="1"/>
          </p:cNvSpPr>
          <p:nvPr/>
        </p:nvSpPr>
        <p:spPr>
          <a:xfrm>
            <a:off x="609600" y="5715000"/>
            <a:ext cx="10972800" cy="438150"/>
          </a:xfrm>
          <a:prstGeom prst="rect">
            <a:avLst/>
          </a:prstGeom>
          <a:noFill/>
          <a:ln w="0">
            <a:noFill/>
            <a:prstDash val="solid"/>
          </a:ln>
        </p:spPr>
        <p:txBody>
          <a:bodyPr lIns="0" tIns="0" rIns="0" bIns="0"/>
          <a:lstStyle>
            <a:defPPr>
              <a:defRPr sz="1800" b="1">
                <a:solidFill>
                  <a:srgbClr val="087E8B"/>
                </a:solidFill>
                <a:latin typeface="DejaVu Sans"/>
                <a:ea typeface="DejaVu Sans"/>
                <a:cs typeface="DejaVu Sans"/>
              </a:defRPr>
            </a:defPPr>
            <a:lvl1pPr>
              <a:defRPr sz="1800" b="1">
                <a:solidFill>
                  <a:srgbClr val="087E8B"/>
                </a:solidFill>
                <a:latin typeface="DejaVu Sans"/>
                <a:ea typeface="DejaVu Sans"/>
                <a:cs typeface="DejaVu Sans"/>
              </a:defRPr>
            </a:lvl1pPr>
            <a:lvl2pPr>
              <a:defRPr sz="1800" b="1">
                <a:solidFill>
                  <a:srgbClr val="087E8B"/>
                </a:solidFill>
                <a:latin typeface="DejaVu Sans"/>
                <a:ea typeface="DejaVu Sans"/>
                <a:cs typeface="DejaVu Sans"/>
              </a:defRPr>
            </a:lvl2pPr>
            <a:lvl3pPr>
              <a:defRPr sz="1800" b="1">
                <a:solidFill>
                  <a:srgbClr val="087E8B"/>
                </a:solidFill>
                <a:latin typeface="DejaVu Sans"/>
                <a:ea typeface="DejaVu Sans"/>
                <a:cs typeface="DejaVu Sans"/>
              </a:defRPr>
            </a:lvl3pPr>
            <a:lvl4pPr>
              <a:defRPr sz="1800" b="1">
                <a:solidFill>
                  <a:srgbClr val="087E8B"/>
                </a:solidFill>
                <a:latin typeface="DejaVu Sans"/>
                <a:ea typeface="DejaVu Sans"/>
                <a:cs typeface="DejaVu Sans"/>
              </a:defRPr>
            </a:lvl4pPr>
            <a:lvl5pPr>
              <a:defRPr sz="1800" b="1">
                <a:solidFill>
                  <a:srgbClr val="087E8B"/>
                </a:solidFill>
                <a:latin typeface="DejaVu Sans"/>
                <a:ea typeface="DejaVu Sans"/>
                <a:cs typeface="DejaVu Sans"/>
              </a:defRPr>
            </a:lvl5pPr>
            <a:lvl6pPr>
              <a:defRPr sz="1800" b="1">
                <a:solidFill>
                  <a:srgbClr val="087E8B"/>
                </a:solidFill>
                <a:latin typeface="DejaVu Sans"/>
                <a:ea typeface="DejaVu Sans"/>
                <a:cs typeface="DejaVu Sans"/>
              </a:defRPr>
            </a:lvl6pPr>
            <a:lvl7pPr>
              <a:defRPr sz="1800" b="1">
                <a:solidFill>
                  <a:srgbClr val="087E8B"/>
                </a:solidFill>
                <a:latin typeface="DejaVu Sans"/>
                <a:ea typeface="DejaVu Sans"/>
                <a:cs typeface="DejaVu Sans"/>
              </a:defRPr>
            </a:lvl7pPr>
            <a:lvl8pPr>
              <a:defRPr sz="1800" b="1">
                <a:solidFill>
                  <a:srgbClr val="087E8B"/>
                </a:solidFill>
                <a:latin typeface="DejaVu Sans"/>
                <a:ea typeface="DejaVu Sans"/>
                <a:cs typeface="DejaVu Sans"/>
              </a:defRPr>
            </a:lvl8pPr>
            <a:lvl9pPr>
              <a:defRPr sz="1800" b="1">
                <a:solidFill>
                  <a:srgbClr val="087E8B"/>
                </a:solidFill>
                <a:latin typeface="DejaVu Sans"/>
                <a:ea typeface="DejaVu Sans"/>
                <a:cs typeface="DejaVu Sans"/>
              </a:defRPr>
            </a:lvl9pPr>
          </a:lstStyle>
          <a:p>
            <a:pPr>
              <a:buNone/>
              <a:defRPr sz="1800" b="1">
                <a:solidFill>
                  <a:srgbClr val="087E8B"/>
                </a:solidFill>
                <a:latin typeface="DejaVu Sans"/>
                <a:ea typeface="DejaVu Sans"/>
                <a:cs typeface="DejaVu Sans"/>
              </a:defRPr>
            </a:pPr>
            <a:r>
              <a:rPr sz="1800" b="1">
                <a:solidFill>
                  <a:srgbClr val="087E8B"/>
                </a:solidFill>
                <a:latin typeface="DejaVu Sans"/>
                <a:ea typeface="DejaVu Sans"/>
                <a:cs typeface="DejaVu Sans"/>
              </a:rPr>
              <a:t>Sprints contain these events. Backlog refinement is an ongoing activity.</a:t>
            </a:r>
          </a:p>
        </p:txBody>
      </p:sp>
    </p:spTree>
    <p:extLst>
      <p:ext uri="{BB962C8B-B14F-4D97-AF65-F5344CB8AC3E}">
        <p14:creationId xmlns:p14="http://schemas.microsoft.com/office/powerpoint/2010/main" val="1565218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A2C7F4A1-271B-445A-B5A5-18490AACECC2}"/>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SNHU Travel: responding to a changed request</a:t>
            </a:r>
          </a:p>
        </p:txBody>
      </p:sp>
      <p:sp>
        <p:nvSpPr>
          <p:cNvPr id="2" name="text-1">
            <a:extLst>
              <a:ext uri="{FF2B5EF4-FFF2-40B4-BE49-F238E27FC236}">
                <a16:creationId xmlns:a16="http://schemas.microsoft.com/office/drawing/2014/main" id="{3B5EA784-5ABE-45A2-A690-9600B358BBCE}"/>
              </a:ext>
            </a:extLst>
          </p:cNvPr>
          <p:cNvSpPr>
            <a:spLocks noGrp="1"/>
          </p:cNvSpPr>
          <p:nvPr/>
        </p:nvSpPr>
        <p:spPr>
          <a:xfrm>
            <a:off x="609600" y="6334125"/>
            <a:ext cx="10972800" cy="323850"/>
          </a:xfrm>
          <a:prstGeom prst="rect">
            <a:avLst/>
          </a:prstGeom>
          <a:noFill/>
          <a:ln w="0">
            <a:noFill/>
            <a:prstDash val="solid"/>
          </a:ln>
        </p:spPr>
        <p:txBody>
          <a:bodyPr lIns="0" tIns="0" rIns="0" bIns="0"/>
          <a:lstStyle>
            <a:defPPr>
              <a:defRPr sz="1275" b="0">
                <a:solidFill>
                  <a:srgbClr val="475569"/>
                </a:solidFill>
                <a:latin typeface="DejaVu Sans"/>
                <a:ea typeface="DejaVu Sans"/>
                <a:cs typeface="DejaVu Sans"/>
              </a:defRPr>
            </a:defPPr>
            <a:lvl1pPr>
              <a:defRPr sz="1275" b="0">
                <a:solidFill>
                  <a:srgbClr val="475569"/>
                </a:solidFill>
                <a:latin typeface="DejaVu Sans"/>
                <a:ea typeface="DejaVu Sans"/>
                <a:cs typeface="DejaVu Sans"/>
              </a:defRPr>
            </a:lvl1pPr>
            <a:lvl2pPr>
              <a:defRPr sz="1275" b="0">
                <a:solidFill>
                  <a:srgbClr val="475569"/>
                </a:solidFill>
                <a:latin typeface="DejaVu Sans"/>
                <a:ea typeface="DejaVu Sans"/>
                <a:cs typeface="DejaVu Sans"/>
              </a:defRPr>
            </a:lvl2pPr>
            <a:lvl3pPr>
              <a:defRPr sz="1275" b="0">
                <a:solidFill>
                  <a:srgbClr val="475569"/>
                </a:solidFill>
                <a:latin typeface="DejaVu Sans"/>
                <a:ea typeface="DejaVu Sans"/>
                <a:cs typeface="DejaVu Sans"/>
              </a:defRPr>
            </a:lvl3pPr>
            <a:lvl4pPr>
              <a:defRPr sz="1275" b="0">
                <a:solidFill>
                  <a:srgbClr val="475569"/>
                </a:solidFill>
                <a:latin typeface="DejaVu Sans"/>
                <a:ea typeface="DejaVu Sans"/>
                <a:cs typeface="DejaVu Sans"/>
              </a:defRPr>
            </a:lvl4pPr>
            <a:lvl5pPr>
              <a:defRPr sz="1275" b="0">
                <a:solidFill>
                  <a:srgbClr val="475569"/>
                </a:solidFill>
                <a:latin typeface="DejaVu Sans"/>
                <a:ea typeface="DejaVu Sans"/>
                <a:cs typeface="DejaVu Sans"/>
              </a:defRPr>
            </a:lvl5pPr>
            <a:lvl6pPr>
              <a:defRPr sz="1275" b="0">
                <a:solidFill>
                  <a:srgbClr val="475569"/>
                </a:solidFill>
                <a:latin typeface="DejaVu Sans"/>
                <a:ea typeface="DejaVu Sans"/>
                <a:cs typeface="DejaVu Sans"/>
              </a:defRPr>
            </a:lvl6pPr>
            <a:lvl7pPr>
              <a:defRPr sz="1275" b="0">
                <a:solidFill>
                  <a:srgbClr val="475569"/>
                </a:solidFill>
                <a:latin typeface="DejaVu Sans"/>
                <a:ea typeface="DejaVu Sans"/>
                <a:cs typeface="DejaVu Sans"/>
              </a:defRPr>
            </a:lvl7pPr>
            <a:lvl8pPr>
              <a:defRPr sz="1275" b="0">
                <a:solidFill>
                  <a:srgbClr val="475569"/>
                </a:solidFill>
                <a:latin typeface="DejaVu Sans"/>
                <a:ea typeface="DejaVu Sans"/>
                <a:cs typeface="DejaVu Sans"/>
              </a:defRPr>
            </a:lvl8pPr>
            <a:lvl9pPr>
              <a:defRPr sz="1275" b="0">
                <a:solidFill>
                  <a:srgbClr val="475569"/>
                </a:solidFill>
                <a:latin typeface="DejaVu Sans"/>
                <a:ea typeface="DejaVu Sans"/>
                <a:cs typeface="DejaVu Sans"/>
              </a:defRPr>
            </a:lvl9pPr>
          </a:lstStyle>
          <a:p>
            <a:pPr>
              <a:buNone/>
              <a:defRPr sz="1275" b="0">
                <a:solidFill>
                  <a:srgbClr val="475569"/>
                </a:solidFill>
                <a:latin typeface="DejaVu Sans"/>
                <a:ea typeface="DejaVu Sans"/>
                <a:cs typeface="DejaVu Sans"/>
              </a:defRPr>
            </a:pPr>
            <a:r>
              <a:rPr sz="1275" b="0">
                <a:solidFill>
                  <a:srgbClr val="475569"/>
                </a:solidFill>
                <a:latin typeface="DejaVu Sans"/>
                <a:ea typeface="DejaVu Sans"/>
                <a:cs typeface="DejaVu Sans"/>
              </a:rPr>
              <a:t>Project evidence: Module Five journal and SlideShow.java</a:t>
            </a:r>
          </a:p>
        </p:txBody>
      </p:sp>
      <p:sp>
        <p:nvSpPr>
          <p:cNvPr id="3" name="text-2">
            <a:extLst>
              <a:ext uri="{FF2B5EF4-FFF2-40B4-BE49-F238E27FC236}">
                <a16:creationId xmlns:a16="http://schemas.microsoft.com/office/drawing/2014/main" id="{819B9CC2-A2B4-4F38-96F5-3F12DB366FC5}"/>
              </a:ext>
            </a:extLst>
          </p:cNvPr>
          <p:cNvSpPr>
            <a:spLocks noGrp="1"/>
          </p:cNvSpPr>
          <p:nvPr/>
        </p:nvSpPr>
        <p:spPr>
          <a:xfrm>
            <a:off x="609600" y="1524000"/>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Change in direction</a:t>
            </a:r>
          </a:p>
        </p:txBody>
      </p:sp>
      <p:sp>
        <p:nvSpPr>
          <p:cNvPr id="4" name="text-3">
            <a:extLst>
              <a:ext uri="{FF2B5EF4-FFF2-40B4-BE49-F238E27FC236}">
                <a16:creationId xmlns:a16="http://schemas.microsoft.com/office/drawing/2014/main" id="{951FF317-53DA-4F48-8EE7-1BC28F503224}"/>
              </a:ext>
            </a:extLst>
          </p:cNvPr>
          <p:cNvSpPr>
            <a:spLocks noGrp="1"/>
          </p:cNvSpPr>
          <p:nvPr/>
        </p:nvSpPr>
        <p:spPr>
          <a:xfrm>
            <a:off x="3714750" y="1524000"/>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The Product Owner shifted general travel content toward detox and wellness destinations.</a:t>
            </a:r>
          </a:p>
        </p:txBody>
      </p:sp>
      <p:sp>
        <p:nvSpPr>
          <p:cNvPr id="5" name="text-4">
            <a:extLst>
              <a:ext uri="{FF2B5EF4-FFF2-40B4-BE49-F238E27FC236}">
                <a16:creationId xmlns:a16="http://schemas.microsoft.com/office/drawing/2014/main" id="{F53B8F56-AB84-477F-9D29-E9407694D491}"/>
              </a:ext>
            </a:extLst>
          </p:cNvPr>
          <p:cNvSpPr>
            <a:spLocks noGrp="1"/>
          </p:cNvSpPr>
          <p:nvPr/>
        </p:nvSpPr>
        <p:spPr>
          <a:xfrm>
            <a:off x="609600" y="2857500"/>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Incremental response</a:t>
            </a:r>
          </a:p>
        </p:txBody>
      </p:sp>
      <p:sp>
        <p:nvSpPr>
          <p:cNvPr id="6" name="text-5">
            <a:extLst>
              <a:ext uri="{FF2B5EF4-FFF2-40B4-BE49-F238E27FC236}">
                <a16:creationId xmlns:a16="http://schemas.microsoft.com/office/drawing/2014/main" id="{42829C17-1301-47B1-8BD2-9B8933BF5525}"/>
              </a:ext>
            </a:extLst>
          </p:cNvPr>
          <p:cNvSpPr>
            <a:spLocks noGrp="1"/>
          </p:cNvSpPr>
          <p:nvPr/>
        </p:nvSpPr>
        <p:spPr>
          <a:xfrm>
            <a:off x="3714750" y="2857500"/>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Replace images and descriptions while retaining the five-card slideshow and its navigation.</a:t>
            </a:r>
          </a:p>
        </p:txBody>
      </p:sp>
      <p:sp>
        <p:nvSpPr>
          <p:cNvPr id="7" name="text-6">
            <a:extLst>
              <a:ext uri="{FF2B5EF4-FFF2-40B4-BE49-F238E27FC236}">
                <a16:creationId xmlns:a16="http://schemas.microsoft.com/office/drawing/2014/main" id="{9D29BCCA-3B4A-4512-8A73-5D46D45D946A}"/>
              </a:ext>
            </a:extLst>
          </p:cNvPr>
          <p:cNvSpPr>
            <a:spLocks noGrp="1"/>
          </p:cNvSpPr>
          <p:nvPr/>
        </p:nvSpPr>
        <p:spPr>
          <a:xfrm>
            <a:off x="609600" y="4191000"/>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Verification</a:t>
            </a:r>
          </a:p>
        </p:txBody>
      </p:sp>
      <p:sp>
        <p:nvSpPr>
          <p:cNvPr id="8" name="text-7">
            <a:extLst>
              <a:ext uri="{FF2B5EF4-FFF2-40B4-BE49-F238E27FC236}">
                <a16:creationId xmlns:a16="http://schemas.microsoft.com/office/drawing/2014/main" id="{E208314C-392D-45E1-83BC-CF7A7BB0F5C8}"/>
              </a:ext>
            </a:extLst>
          </p:cNvPr>
          <p:cNvSpPr>
            <a:spLocks noGrp="1"/>
          </p:cNvSpPr>
          <p:nvPr/>
        </p:nvSpPr>
        <p:spPr>
          <a:xfrm>
            <a:off x="3714750" y="4191000"/>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Check image–description matching and both controls. Revise tests when the expected interface changes.</a:t>
            </a:r>
          </a:p>
        </p:txBody>
      </p:sp>
      <p:sp>
        <p:nvSpPr>
          <p:cNvPr id="9" name="text-8">
            <a:extLst>
              <a:ext uri="{FF2B5EF4-FFF2-40B4-BE49-F238E27FC236}">
                <a16:creationId xmlns:a16="http://schemas.microsoft.com/office/drawing/2014/main" id="{8AB7DBB7-CDC4-41D3-B5B9-AE9BB135FB7D}"/>
              </a:ext>
            </a:extLst>
          </p:cNvPr>
          <p:cNvSpPr>
            <a:spLocks noGrp="1"/>
          </p:cNvSpPr>
          <p:nvPr/>
        </p:nvSpPr>
        <p:spPr>
          <a:xfrm>
            <a:off x="609600" y="5591175"/>
            <a:ext cx="10858500" cy="533400"/>
          </a:xfrm>
          <a:prstGeom prst="rect">
            <a:avLst/>
          </a:prstGeom>
          <a:noFill/>
          <a:ln w="0">
            <a:noFill/>
            <a:prstDash val="solid"/>
          </a:ln>
        </p:spPr>
        <p:txBody>
          <a:bodyPr lIns="0" tIns="0" rIns="0" bIns="0"/>
          <a:lstStyle>
            <a:defPPr>
              <a:defRPr sz="2175" b="1">
                <a:solidFill>
                  <a:srgbClr val="087E8B"/>
                </a:solidFill>
                <a:latin typeface="DejaVu Sans"/>
                <a:ea typeface="DejaVu Sans"/>
                <a:cs typeface="DejaVu Sans"/>
              </a:defRPr>
            </a:defPPr>
            <a:lvl1pPr>
              <a:defRPr sz="2175" b="1">
                <a:solidFill>
                  <a:srgbClr val="087E8B"/>
                </a:solidFill>
                <a:latin typeface="DejaVu Sans"/>
                <a:ea typeface="DejaVu Sans"/>
                <a:cs typeface="DejaVu Sans"/>
              </a:defRPr>
            </a:lvl1pPr>
            <a:lvl2pPr>
              <a:defRPr sz="2175" b="1">
                <a:solidFill>
                  <a:srgbClr val="087E8B"/>
                </a:solidFill>
                <a:latin typeface="DejaVu Sans"/>
                <a:ea typeface="DejaVu Sans"/>
                <a:cs typeface="DejaVu Sans"/>
              </a:defRPr>
            </a:lvl2pPr>
            <a:lvl3pPr>
              <a:defRPr sz="2175" b="1">
                <a:solidFill>
                  <a:srgbClr val="087E8B"/>
                </a:solidFill>
                <a:latin typeface="DejaVu Sans"/>
                <a:ea typeface="DejaVu Sans"/>
                <a:cs typeface="DejaVu Sans"/>
              </a:defRPr>
            </a:lvl3pPr>
            <a:lvl4pPr>
              <a:defRPr sz="2175" b="1">
                <a:solidFill>
                  <a:srgbClr val="087E8B"/>
                </a:solidFill>
                <a:latin typeface="DejaVu Sans"/>
                <a:ea typeface="DejaVu Sans"/>
                <a:cs typeface="DejaVu Sans"/>
              </a:defRPr>
            </a:lvl4pPr>
            <a:lvl5pPr>
              <a:defRPr sz="2175" b="1">
                <a:solidFill>
                  <a:srgbClr val="087E8B"/>
                </a:solidFill>
                <a:latin typeface="DejaVu Sans"/>
                <a:ea typeface="DejaVu Sans"/>
                <a:cs typeface="DejaVu Sans"/>
              </a:defRPr>
            </a:lvl5pPr>
            <a:lvl6pPr>
              <a:defRPr sz="2175" b="1">
                <a:solidFill>
                  <a:srgbClr val="087E8B"/>
                </a:solidFill>
                <a:latin typeface="DejaVu Sans"/>
                <a:ea typeface="DejaVu Sans"/>
                <a:cs typeface="DejaVu Sans"/>
              </a:defRPr>
            </a:lvl6pPr>
            <a:lvl7pPr>
              <a:defRPr sz="2175" b="1">
                <a:solidFill>
                  <a:srgbClr val="087E8B"/>
                </a:solidFill>
                <a:latin typeface="DejaVu Sans"/>
                <a:ea typeface="DejaVu Sans"/>
                <a:cs typeface="DejaVu Sans"/>
              </a:defRPr>
            </a:lvl7pPr>
            <a:lvl8pPr>
              <a:defRPr sz="2175" b="1">
                <a:solidFill>
                  <a:srgbClr val="087E8B"/>
                </a:solidFill>
                <a:latin typeface="DejaVu Sans"/>
                <a:ea typeface="DejaVu Sans"/>
                <a:cs typeface="DejaVu Sans"/>
              </a:defRPr>
            </a:lvl8pPr>
            <a:lvl9pPr>
              <a:defRPr sz="2175" b="1">
                <a:solidFill>
                  <a:srgbClr val="087E8B"/>
                </a:solidFill>
                <a:latin typeface="DejaVu Sans"/>
                <a:ea typeface="DejaVu Sans"/>
                <a:cs typeface="DejaVu Sans"/>
              </a:defRPr>
            </a:lvl9pPr>
          </a:lstStyle>
          <a:p>
            <a:pPr>
              <a:buNone/>
              <a:defRPr sz="2175" b="1">
                <a:solidFill>
                  <a:srgbClr val="087E8B"/>
                </a:solidFill>
                <a:latin typeface="DejaVu Sans"/>
                <a:ea typeface="DejaVu Sans"/>
                <a:cs typeface="DejaVu Sans"/>
              </a:defRPr>
            </a:pPr>
            <a:r>
              <a:rPr sz="2175" b="1">
                <a:solidFill>
                  <a:srgbClr val="087E8B"/>
                </a:solidFill>
                <a:latin typeface="DejaVu Sans"/>
                <a:ea typeface="DejaVu Sans"/>
                <a:cs typeface="DejaVu Sans"/>
              </a:rPr>
              <a:t>Lesson: confirm the acceptance expectations before changing code.</a:t>
            </a:r>
          </a:p>
        </p:txBody>
      </p:sp>
    </p:spTree>
    <p:extLst>
      <p:ext uri="{BB962C8B-B14F-4D97-AF65-F5344CB8AC3E}">
        <p14:creationId xmlns:p14="http://schemas.microsoft.com/office/powerpoint/2010/main" val="720848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43ED1BB2-B1DC-4371-881F-7140098E6223}"/>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The same change under waterfall</a:t>
            </a:r>
          </a:p>
        </p:txBody>
      </p:sp>
      <p:sp>
        <p:nvSpPr>
          <p:cNvPr id="2" name="text-1">
            <a:extLst>
              <a:ext uri="{FF2B5EF4-FFF2-40B4-BE49-F238E27FC236}">
                <a16:creationId xmlns:a16="http://schemas.microsoft.com/office/drawing/2014/main" id="{A61BD341-11D6-413A-AB06-31D60ADB27A2}"/>
              </a:ext>
            </a:extLst>
          </p:cNvPr>
          <p:cNvSpPr>
            <a:spLocks noGrp="1"/>
          </p:cNvSpPr>
          <p:nvPr/>
        </p:nvSpPr>
        <p:spPr>
          <a:xfrm>
            <a:off x="609600" y="6334125"/>
            <a:ext cx="10972800" cy="323850"/>
          </a:xfrm>
          <a:prstGeom prst="rect">
            <a:avLst/>
          </a:prstGeom>
          <a:noFill/>
          <a:ln w="0">
            <a:noFill/>
            <a:prstDash val="solid"/>
          </a:ln>
        </p:spPr>
        <p:txBody>
          <a:bodyPr lIns="0" tIns="0" rIns="0" bIns="0"/>
          <a:lstStyle>
            <a:defPPr>
              <a:defRPr sz="1275" b="0">
                <a:solidFill>
                  <a:srgbClr val="475569"/>
                </a:solidFill>
                <a:latin typeface="DejaVu Sans"/>
                <a:ea typeface="DejaVu Sans"/>
                <a:cs typeface="DejaVu Sans"/>
              </a:defRPr>
            </a:defPPr>
            <a:lvl1pPr>
              <a:defRPr sz="1275" b="0">
                <a:solidFill>
                  <a:srgbClr val="475569"/>
                </a:solidFill>
                <a:latin typeface="DejaVu Sans"/>
                <a:ea typeface="DejaVu Sans"/>
                <a:cs typeface="DejaVu Sans"/>
              </a:defRPr>
            </a:lvl1pPr>
            <a:lvl2pPr>
              <a:defRPr sz="1275" b="0">
                <a:solidFill>
                  <a:srgbClr val="475569"/>
                </a:solidFill>
                <a:latin typeface="DejaVu Sans"/>
                <a:ea typeface="DejaVu Sans"/>
                <a:cs typeface="DejaVu Sans"/>
              </a:defRPr>
            </a:lvl2pPr>
            <a:lvl3pPr>
              <a:defRPr sz="1275" b="0">
                <a:solidFill>
                  <a:srgbClr val="475569"/>
                </a:solidFill>
                <a:latin typeface="DejaVu Sans"/>
                <a:ea typeface="DejaVu Sans"/>
                <a:cs typeface="DejaVu Sans"/>
              </a:defRPr>
            </a:lvl3pPr>
            <a:lvl4pPr>
              <a:defRPr sz="1275" b="0">
                <a:solidFill>
                  <a:srgbClr val="475569"/>
                </a:solidFill>
                <a:latin typeface="DejaVu Sans"/>
                <a:ea typeface="DejaVu Sans"/>
                <a:cs typeface="DejaVu Sans"/>
              </a:defRPr>
            </a:lvl4pPr>
            <a:lvl5pPr>
              <a:defRPr sz="1275" b="0">
                <a:solidFill>
                  <a:srgbClr val="475569"/>
                </a:solidFill>
                <a:latin typeface="DejaVu Sans"/>
                <a:ea typeface="DejaVu Sans"/>
                <a:cs typeface="DejaVu Sans"/>
              </a:defRPr>
            </a:lvl5pPr>
            <a:lvl6pPr>
              <a:defRPr sz="1275" b="0">
                <a:solidFill>
                  <a:srgbClr val="475569"/>
                </a:solidFill>
                <a:latin typeface="DejaVu Sans"/>
                <a:ea typeface="DejaVu Sans"/>
                <a:cs typeface="DejaVu Sans"/>
              </a:defRPr>
            </a:lvl6pPr>
            <a:lvl7pPr>
              <a:defRPr sz="1275" b="0">
                <a:solidFill>
                  <a:srgbClr val="475569"/>
                </a:solidFill>
                <a:latin typeface="DejaVu Sans"/>
                <a:ea typeface="DejaVu Sans"/>
                <a:cs typeface="DejaVu Sans"/>
              </a:defRPr>
            </a:lvl7pPr>
            <a:lvl8pPr>
              <a:defRPr sz="1275" b="0">
                <a:solidFill>
                  <a:srgbClr val="475569"/>
                </a:solidFill>
                <a:latin typeface="DejaVu Sans"/>
                <a:ea typeface="DejaVu Sans"/>
                <a:cs typeface="DejaVu Sans"/>
              </a:defRPr>
            </a:lvl8pPr>
            <a:lvl9pPr>
              <a:defRPr sz="1275" b="0">
                <a:solidFill>
                  <a:srgbClr val="475569"/>
                </a:solidFill>
                <a:latin typeface="DejaVu Sans"/>
                <a:ea typeface="DejaVu Sans"/>
                <a:cs typeface="DejaVu Sans"/>
              </a:defRPr>
            </a:lvl9pPr>
          </a:lstStyle>
          <a:p>
            <a:pPr>
              <a:buNone/>
              <a:defRPr sz="1275" b="0">
                <a:solidFill>
                  <a:srgbClr val="475569"/>
                </a:solidFill>
                <a:latin typeface="DejaVu Sans"/>
                <a:ea typeface="DejaVu Sans"/>
                <a:cs typeface="DejaVu Sans"/>
              </a:defRPr>
            </a:pPr>
            <a:r>
              <a:rPr sz="1275" b="0">
                <a:solidFill>
                  <a:srgbClr val="475569"/>
                </a:solidFill>
                <a:latin typeface="DejaVu Sans"/>
                <a:ea typeface="DejaVu Sans"/>
                <a:cs typeface="DejaVu Sans"/>
              </a:rPr>
              <a:t>(Madaan, 2024; Ripley, 2024)</a:t>
            </a:r>
          </a:p>
        </p:txBody>
      </p:sp>
      <p:graphicFrame>
        <p:nvGraphicFramePr>
          <p:cNvPr id="3" name="Table 2">
            <a:extLst>
              <a:ext uri="{FF2B5EF4-FFF2-40B4-BE49-F238E27FC236}">
                <a16:creationId xmlns:a16="http://schemas.microsoft.com/office/drawing/2014/main" id="{DFC619C1-93B3-4FA2-A3B9-AF3D8ECA8618}"/>
              </a:ext>
            </a:extLst>
          </p:cNvPr>
          <p:cNvGraphicFramePr/>
          <p:nvPr/>
        </p:nvGraphicFramePr>
        <p:xfrm>
          <a:off x="609600" y="1524000"/>
          <a:ext cx="10972800" cy="4286250"/>
        </p:xfrm>
        <a:graphic>
          <a:graphicData uri="http://schemas.openxmlformats.org/drawingml/2006/table">
            <a:tbl>
              <a:tblPr/>
              <a:tblGrid>
                <a:gridCol w="2190750">
                  <a:extLst>
                    <a:ext uri="{9D8B030D-6E8A-4147-A177-3AD203B41FA5}">
                      <a16:colId xmlns:a16="http://schemas.microsoft.com/office/drawing/2014/main" val="20000"/>
                    </a:ext>
                  </a:extLst>
                </a:gridCol>
                <a:gridCol w="4391025">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552450">
                <a:tc>
                  <a:txBody>
                    <a:bodyPr/>
                    <a:lstStyle/>
                    <a:p>
                      <a:r>
                        <a:rPr sz="1800" b="1">
                          <a:solidFill>
                            <a:srgbClr val="FFFFFF"/>
                          </a:solidFill>
                          <a:latin typeface="DejaVu Sans"/>
                          <a:ea typeface="DejaVu Sans"/>
                          <a:cs typeface="DejaVu Sans"/>
                        </a:rPr>
                        <a:t>Decision point</a:t>
                      </a:r>
                    </a:p>
                  </a:txBody>
                  <a:tcP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42B3B"/>
                    </a:solidFill>
                  </a:tcPr>
                </a:tc>
                <a:tc>
                  <a:txBody>
                    <a:bodyPr/>
                    <a:lstStyle/>
                    <a:p>
                      <a:r>
                        <a:rPr sz="1800" b="1">
                          <a:solidFill>
                            <a:srgbClr val="FFFFFF"/>
                          </a:solidFill>
                          <a:latin typeface="DejaVu Sans"/>
                          <a:ea typeface="DejaVu Sans"/>
                          <a:cs typeface="DejaVu Sans"/>
                        </a:rPr>
                        <a:t>Scrum approach</a:t>
                      </a:r>
                    </a:p>
                  </a:txBody>
                  <a:tcPr>
                    <a:lnL w="9525" cap="flat" cmpd="sng" algn="ctr">
                      <a:solidFill>
                        <a:srgbClr val="CBD5E1"/>
                      </a:solidFill>
                      <a:prstDash val="solid"/>
                      <a:round/>
                      <a:headEnd type="none" w="med" len="med"/>
                      <a:tailEnd type="none" w="med" len="med"/>
                    </a:lnL>
                    <a:lnR w="9525">
                      <a:solidFill>
                        <a:srgbClr val="CBD5E1"/>
                      </a:solidFill>
                      <a:prstDash val="solid"/>
                    </a:lnR>
                    <a:lnT w="9525">
                      <a:solidFill>
                        <a:srgbClr val="CBD5E1"/>
                      </a:solidFill>
                      <a:prstDash val="solid"/>
                    </a:lnT>
                    <a:lnB w="9525">
                      <a:solidFill>
                        <a:srgbClr val="CBD5E1"/>
                      </a:solidFill>
                      <a:prstDash val="solid"/>
                    </a:lnB>
                    <a:solidFill>
                      <a:srgbClr val="142B3B"/>
                    </a:solidFill>
                  </a:tcPr>
                </a:tc>
                <a:tc>
                  <a:txBody>
                    <a:bodyPr/>
                    <a:lstStyle/>
                    <a:p>
                      <a:r>
                        <a:rPr sz="1800" b="1">
                          <a:solidFill>
                            <a:srgbClr val="FFFFFF"/>
                          </a:solidFill>
                          <a:latin typeface="DejaVu Sans"/>
                          <a:ea typeface="DejaVu Sans"/>
                          <a:cs typeface="DejaVu Sans"/>
                        </a:rPr>
                        <a:t>Waterfall approach</a:t>
                      </a:r>
                    </a:p>
                  </a:txBody>
                  <a:tcPr>
                    <a:lnL w="9525" cap="flat" cmpd="sng" algn="ctr">
                      <a:solidFill>
                        <a:srgbClr val="CBD5E1"/>
                      </a:solidFill>
                      <a:prstDash val="solid"/>
                      <a:round/>
                      <a:headEnd type="none" w="med" len="med"/>
                      <a:tailEnd type="none" w="med" len="med"/>
                    </a:lnL>
                    <a:lnR w="9525">
                      <a:solidFill>
                        <a:srgbClr val="CBD5E1"/>
                      </a:solidFill>
                      <a:prstDash val="solid"/>
                    </a:lnR>
                    <a:lnT w="9525">
                      <a:solidFill>
                        <a:srgbClr val="CBD5E1"/>
                      </a:solidFill>
                      <a:prstDash val="solid"/>
                    </a:lnT>
                    <a:lnB w="9525">
                      <a:solidFill>
                        <a:srgbClr val="CBD5E1"/>
                      </a:solidFill>
                      <a:prstDash val="solid"/>
                    </a:lnB>
                    <a:solidFill>
                      <a:srgbClr val="142B3B"/>
                    </a:solidFill>
                  </a:tcPr>
                </a:tc>
                <a:extLst>
                  <a:ext uri="{0D108BD9-81ED-4DB2-BD59-A6C34878D82A}">
                    <a16:rowId xmlns:a16="http://schemas.microsoft.com/office/drawing/2014/main" val="10000"/>
                  </a:ext>
                </a:extLst>
              </a:tr>
              <a:tr h="933450">
                <a:tc>
                  <a:txBody>
                    <a:bodyPr/>
                    <a:lstStyle/>
                    <a:p>
                      <a:r>
                        <a:rPr sz="1800" b="0">
                          <a:solidFill>
                            <a:srgbClr val="142B3B"/>
                          </a:solidFill>
                          <a:latin typeface="DejaVu Sans"/>
                          <a:ea typeface="DejaVu Sans"/>
                          <a:cs typeface="DejaVu Sans"/>
                        </a:rPr>
                        <a:t>Requirements</a:t>
                      </a:r>
                    </a:p>
                  </a:txBody>
                  <a:tcPr>
                    <a:lnL w="9525">
                      <a:solidFill>
                        <a:srgbClr val="CBD5E1"/>
                      </a:solidFill>
                      <a:prstDash val="soli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tc>
                  <a:txBody>
                    <a:bodyPr/>
                    <a:lstStyle/>
                    <a:p>
                      <a:r>
                        <a:rPr sz="1800" b="0">
                          <a:solidFill>
                            <a:srgbClr val="142B3B"/>
                          </a:solidFill>
                          <a:latin typeface="DejaVu Sans"/>
                          <a:ea typeface="DejaVu Sans"/>
                          <a:cs typeface="DejaVu Sans"/>
                        </a:rPr>
                        <a:t>Clarify and reorder work as feedback develops.</a:t>
                      </a:r>
                    </a:p>
                  </a:txBody>
                  <a:tcPr>
                    <a:lnL w="9525" cap="flat" cmpd="sng" algn="ctr">
                      <a:solidFill>
                        <a:srgbClr val="CBD5E1"/>
                      </a:solidFill>
                      <a:prstDash val="solid"/>
                      <a:round/>
                      <a:headEnd type="none" w="med" len="med"/>
                      <a:tailEnd type="none" w="med" len="me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tc>
                  <a:txBody>
                    <a:bodyPr/>
                    <a:lstStyle/>
                    <a:p>
                      <a:r>
                        <a:rPr sz="1800" b="0">
                          <a:solidFill>
                            <a:srgbClr val="142B3B"/>
                          </a:solidFill>
                          <a:latin typeface="DejaVu Sans"/>
                          <a:ea typeface="DejaVu Sans"/>
                          <a:cs typeface="DejaVu Sans"/>
                        </a:rPr>
                        <a:t>Baseline requirements before later stages.</a:t>
                      </a:r>
                    </a:p>
                  </a:txBody>
                  <a:tcPr>
                    <a:lnL w="9525" cap="flat" cmpd="sng" algn="ctr">
                      <a:solidFill>
                        <a:srgbClr val="CBD5E1"/>
                      </a:solidFill>
                      <a:prstDash val="solid"/>
                      <a:round/>
                      <a:headEnd type="none" w="med" len="med"/>
                      <a:tailEnd type="none" w="med" len="me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extLst>
                  <a:ext uri="{0D108BD9-81ED-4DB2-BD59-A6C34878D82A}">
                    <a16:rowId xmlns:a16="http://schemas.microsoft.com/office/drawing/2014/main" val="10001"/>
                  </a:ext>
                </a:extLst>
              </a:tr>
              <a:tr h="933450">
                <a:tc>
                  <a:txBody>
                    <a:bodyPr/>
                    <a:lstStyle/>
                    <a:p>
                      <a:r>
                        <a:rPr sz="1800" b="0">
                          <a:solidFill>
                            <a:srgbClr val="142B3B"/>
                          </a:solidFill>
                          <a:latin typeface="DejaVu Sans"/>
                          <a:ea typeface="DejaVu Sans"/>
                          <a:cs typeface="DejaVu Sans"/>
                        </a:rPr>
                        <a:t>Wellness request</a:t>
                      </a:r>
                    </a:p>
                  </a:txBody>
                  <a:tcPr>
                    <a:lnL w="9525">
                      <a:solidFill>
                        <a:srgbClr val="CBD5E1"/>
                      </a:solidFill>
                      <a:prstDash val="soli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tc>
                  <a:txBody>
                    <a:bodyPr/>
                    <a:lstStyle/>
                    <a:p>
                      <a:r>
                        <a:rPr sz="1800" b="0">
                          <a:solidFill>
                            <a:srgbClr val="142B3B"/>
                          </a:solidFill>
                          <a:latin typeface="DejaVu Sans"/>
                          <a:ea typeface="DejaVu Sans"/>
                          <a:cs typeface="DejaVu Sans"/>
                        </a:rPr>
                        <a:t>Negotiate scope and revise the affected increment.</a:t>
                      </a:r>
                    </a:p>
                  </a:txBody>
                  <a:tcPr>
                    <a:lnL w="9525" cap="flat" cmpd="sng" algn="ctr">
                      <a:solidFill>
                        <a:srgbClr val="CBD5E1"/>
                      </a:solidFill>
                      <a:prstDash val="solid"/>
                      <a:round/>
                      <a:headEnd type="none" w="med" len="med"/>
                      <a:tailEnd type="none" w="med" len="me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tc>
                  <a:txBody>
                    <a:bodyPr/>
                    <a:lstStyle/>
                    <a:p>
                      <a:r>
                        <a:rPr sz="1800" b="0">
                          <a:solidFill>
                            <a:srgbClr val="142B3B"/>
                          </a:solidFill>
                          <a:latin typeface="DejaVu Sans"/>
                          <a:ea typeface="DejaVu Sans"/>
                          <a:cs typeface="DejaVu Sans"/>
                        </a:rPr>
                        <a:t>Assess a change request against approved scope and plans.</a:t>
                      </a:r>
                    </a:p>
                  </a:txBody>
                  <a:tcPr>
                    <a:lnL w="9525" cap="flat" cmpd="sng" algn="ctr">
                      <a:solidFill>
                        <a:srgbClr val="CBD5E1"/>
                      </a:solidFill>
                      <a:prstDash val="solid"/>
                      <a:round/>
                      <a:headEnd type="none" w="med" len="med"/>
                      <a:tailEnd type="none" w="med" len="me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extLst>
                  <a:ext uri="{0D108BD9-81ED-4DB2-BD59-A6C34878D82A}">
                    <a16:rowId xmlns:a16="http://schemas.microsoft.com/office/drawing/2014/main" val="10002"/>
                  </a:ext>
                </a:extLst>
              </a:tr>
              <a:tr h="933450">
                <a:tc>
                  <a:txBody>
                    <a:bodyPr/>
                    <a:lstStyle/>
                    <a:p>
                      <a:r>
                        <a:rPr sz="1800" b="0">
                          <a:solidFill>
                            <a:srgbClr val="142B3B"/>
                          </a:solidFill>
                          <a:latin typeface="DejaVu Sans"/>
                          <a:ea typeface="DejaVu Sans"/>
                          <a:cs typeface="DejaVu Sans"/>
                        </a:rPr>
                        <a:t>Verification</a:t>
                      </a:r>
                    </a:p>
                  </a:txBody>
                  <a:tcPr>
                    <a:lnL w="9525">
                      <a:solidFill>
                        <a:srgbClr val="CBD5E1"/>
                      </a:solidFill>
                      <a:prstDash val="soli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tc>
                  <a:txBody>
                    <a:bodyPr/>
                    <a:lstStyle/>
                    <a:p>
                      <a:r>
                        <a:rPr sz="1800" b="0">
                          <a:solidFill>
                            <a:srgbClr val="142B3B"/>
                          </a:solidFill>
                          <a:latin typeface="DejaVu Sans"/>
                          <a:ea typeface="DejaVu Sans"/>
                          <a:cs typeface="DejaVu Sans"/>
                        </a:rPr>
                        <a:t>Retest the increment and existing navigation.</a:t>
                      </a:r>
                    </a:p>
                  </a:txBody>
                  <a:tcPr>
                    <a:lnL w="9525" cap="flat" cmpd="sng" algn="ctr">
                      <a:solidFill>
                        <a:srgbClr val="CBD5E1"/>
                      </a:solidFill>
                      <a:prstDash val="solid"/>
                      <a:round/>
                      <a:headEnd type="none" w="med" len="med"/>
                      <a:tailEnd type="none" w="med" len="me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tc>
                  <a:txBody>
                    <a:bodyPr/>
                    <a:lstStyle/>
                    <a:p>
                      <a:r>
                        <a:rPr sz="1800" b="0">
                          <a:solidFill>
                            <a:srgbClr val="142B3B"/>
                          </a:solidFill>
                          <a:latin typeface="DejaVu Sans"/>
                          <a:ea typeface="DejaVu Sans"/>
                          <a:cs typeface="DejaVu Sans"/>
                        </a:rPr>
                        <a:t>Revise specifications and test plans across affected stages.</a:t>
                      </a:r>
                    </a:p>
                  </a:txBody>
                  <a:tcPr>
                    <a:lnL w="9525" cap="flat" cmpd="sng" algn="ctr">
                      <a:solidFill>
                        <a:srgbClr val="CBD5E1"/>
                      </a:solidFill>
                      <a:prstDash val="solid"/>
                      <a:round/>
                      <a:headEnd type="none" w="med" len="med"/>
                      <a:tailEnd type="none" w="med" len="me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extLst>
                  <a:ext uri="{0D108BD9-81ED-4DB2-BD59-A6C34878D82A}">
                    <a16:rowId xmlns:a16="http://schemas.microsoft.com/office/drawing/2014/main" val="10003"/>
                  </a:ext>
                </a:extLst>
              </a:tr>
              <a:tr h="933450">
                <a:tc>
                  <a:txBody>
                    <a:bodyPr/>
                    <a:lstStyle/>
                    <a:p>
                      <a:r>
                        <a:rPr sz="1800" b="0">
                          <a:solidFill>
                            <a:srgbClr val="142B3B"/>
                          </a:solidFill>
                          <a:latin typeface="DejaVu Sans"/>
                          <a:ea typeface="DejaVu Sans"/>
                          <a:cs typeface="DejaVu Sans"/>
                        </a:rPr>
                        <a:t>Tradeoff</a:t>
                      </a:r>
                    </a:p>
                  </a:txBody>
                  <a:tcPr>
                    <a:lnL w="9525">
                      <a:solidFill>
                        <a:srgbClr val="CBD5E1"/>
                      </a:solidFill>
                      <a:prstDash val="soli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tc>
                  <a:txBody>
                    <a:bodyPr/>
                    <a:lstStyle/>
                    <a:p>
                      <a:r>
                        <a:rPr sz="1800" b="0">
                          <a:solidFill>
                            <a:srgbClr val="142B3B"/>
                          </a:solidFill>
                          <a:latin typeface="DejaVu Sans"/>
                          <a:ea typeface="DejaVu Sans"/>
                          <a:cs typeface="DejaVu Sans"/>
                        </a:rPr>
                        <a:t>Frequent feedback requires ongoing coordination.</a:t>
                      </a:r>
                    </a:p>
                  </a:txBody>
                  <a:tcPr>
                    <a:lnL w="9525" cap="flat" cmpd="sng" algn="ctr">
                      <a:solidFill>
                        <a:srgbClr val="CBD5E1"/>
                      </a:solidFill>
                      <a:prstDash val="solid"/>
                      <a:round/>
                      <a:headEnd type="none" w="med" len="med"/>
                      <a:tailEnd type="none" w="med" len="me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tc>
                  <a:txBody>
                    <a:bodyPr/>
                    <a:lstStyle/>
                    <a:p>
                      <a:r>
                        <a:rPr sz="1800" b="0">
                          <a:solidFill>
                            <a:srgbClr val="142B3B"/>
                          </a:solidFill>
                          <a:latin typeface="DejaVu Sans"/>
                          <a:ea typeface="DejaVu Sans"/>
                          <a:cs typeface="DejaVu Sans"/>
                        </a:rPr>
                        <a:t>Clear stage plans can make late revisions more disruptive.</a:t>
                      </a:r>
                    </a:p>
                  </a:txBody>
                  <a:tcPr>
                    <a:lnL w="9525" cap="flat" cmpd="sng" algn="ctr">
                      <a:solidFill>
                        <a:srgbClr val="CBD5E1"/>
                      </a:solidFill>
                      <a:prstDash val="solid"/>
                      <a:round/>
                      <a:headEnd type="none" w="med" len="med"/>
                      <a:tailEnd type="none" w="med" len="med"/>
                    </a:lnL>
                    <a:lnR w="9525">
                      <a:solidFill>
                        <a:srgbClr val="CBD5E1"/>
                      </a:solidFill>
                      <a:prstDash val="solid"/>
                    </a:lnR>
                    <a:lnT w="9525" cap="flat" cmpd="sng" algn="ctr">
                      <a:solidFill>
                        <a:srgbClr val="CBD5E1"/>
                      </a:solidFill>
                      <a:prstDash val="solid"/>
                      <a:round/>
                      <a:headEnd type="none" w="med" len="med"/>
                      <a:tailEnd type="none" w="med" len="med"/>
                    </a:lnT>
                    <a:lnB w="9525">
                      <a:solidFill>
                        <a:srgbClr val="CBD5E1"/>
                      </a:solidFill>
                      <a:prstDash val="soli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3989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07FED959-43CD-43EF-A0BF-D8B12F40A4DB}"/>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Choosing Agile or waterfall</a:t>
            </a:r>
          </a:p>
        </p:txBody>
      </p:sp>
      <p:sp>
        <p:nvSpPr>
          <p:cNvPr id="2" name="text-1">
            <a:extLst>
              <a:ext uri="{FF2B5EF4-FFF2-40B4-BE49-F238E27FC236}">
                <a16:creationId xmlns:a16="http://schemas.microsoft.com/office/drawing/2014/main" id="{7D5ABEEA-EE72-4192-86C9-080F7E890D0D}"/>
              </a:ext>
            </a:extLst>
          </p:cNvPr>
          <p:cNvSpPr>
            <a:spLocks noGrp="1"/>
          </p:cNvSpPr>
          <p:nvPr/>
        </p:nvSpPr>
        <p:spPr>
          <a:xfrm>
            <a:off x="609600" y="6334125"/>
            <a:ext cx="10972800" cy="323850"/>
          </a:xfrm>
          <a:prstGeom prst="rect">
            <a:avLst/>
          </a:prstGeom>
          <a:noFill/>
          <a:ln w="0">
            <a:noFill/>
            <a:prstDash val="solid"/>
          </a:ln>
        </p:spPr>
        <p:txBody>
          <a:bodyPr lIns="0" tIns="0" rIns="0" bIns="0"/>
          <a:lstStyle>
            <a:defPPr>
              <a:defRPr sz="1275" b="0">
                <a:solidFill>
                  <a:srgbClr val="475569"/>
                </a:solidFill>
                <a:latin typeface="DejaVu Sans"/>
                <a:ea typeface="DejaVu Sans"/>
                <a:cs typeface="DejaVu Sans"/>
              </a:defRPr>
            </a:defPPr>
            <a:lvl1pPr>
              <a:defRPr sz="1275" b="0">
                <a:solidFill>
                  <a:srgbClr val="475569"/>
                </a:solidFill>
                <a:latin typeface="DejaVu Sans"/>
                <a:ea typeface="DejaVu Sans"/>
                <a:cs typeface="DejaVu Sans"/>
              </a:defRPr>
            </a:lvl1pPr>
            <a:lvl2pPr>
              <a:defRPr sz="1275" b="0">
                <a:solidFill>
                  <a:srgbClr val="475569"/>
                </a:solidFill>
                <a:latin typeface="DejaVu Sans"/>
                <a:ea typeface="DejaVu Sans"/>
                <a:cs typeface="DejaVu Sans"/>
              </a:defRPr>
            </a:lvl2pPr>
            <a:lvl3pPr>
              <a:defRPr sz="1275" b="0">
                <a:solidFill>
                  <a:srgbClr val="475569"/>
                </a:solidFill>
                <a:latin typeface="DejaVu Sans"/>
                <a:ea typeface="DejaVu Sans"/>
                <a:cs typeface="DejaVu Sans"/>
              </a:defRPr>
            </a:lvl3pPr>
            <a:lvl4pPr>
              <a:defRPr sz="1275" b="0">
                <a:solidFill>
                  <a:srgbClr val="475569"/>
                </a:solidFill>
                <a:latin typeface="DejaVu Sans"/>
                <a:ea typeface="DejaVu Sans"/>
                <a:cs typeface="DejaVu Sans"/>
              </a:defRPr>
            </a:lvl4pPr>
            <a:lvl5pPr>
              <a:defRPr sz="1275" b="0">
                <a:solidFill>
                  <a:srgbClr val="475569"/>
                </a:solidFill>
                <a:latin typeface="DejaVu Sans"/>
                <a:ea typeface="DejaVu Sans"/>
                <a:cs typeface="DejaVu Sans"/>
              </a:defRPr>
            </a:lvl5pPr>
            <a:lvl6pPr>
              <a:defRPr sz="1275" b="0">
                <a:solidFill>
                  <a:srgbClr val="475569"/>
                </a:solidFill>
                <a:latin typeface="DejaVu Sans"/>
                <a:ea typeface="DejaVu Sans"/>
                <a:cs typeface="DejaVu Sans"/>
              </a:defRPr>
            </a:lvl6pPr>
            <a:lvl7pPr>
              <a:defRPr sz="1275" b="0">
                <a:solidFill>
                  <a:srgbClr val="475569"/>
                </a:solidFill>
                <a:latin typeface="DejaVu Sans"/>
                <a:ea typeface="DejaVu Sans"/>
                <a:cs typeface="DejaVu Sans"/>
              </a:defRPr>
            </a:lvl7pPr>
            <a:lvl8pPr>
              <a:defRPr sz="1275" b="0">
                <a:solidFill>
                  <a:srgbClr val="475569"/>
                </a:solidFill>
                <a:latin typeface="DejaVu Sans"/>
                <a:ea typeface="DejaVu Sans"/>
                <a:cs typeface="DejaVu Sans"/>
              </a:defRPr>
            </a:lvl8pPr>
            <a:lvl9pPr>
              <a:defRPr sz="1275" b="0">
                <a:solidFill>
                  <a:srgbClr val="475569"/>
                </a:solidFill>
                <a:latin typeface="DejaVu Sans"/>
                <a:ea typeface="DejaVu Sans"/>
                <a:cs typeface="DejaVu Sans"/>
              </a:defRPr>
            </a:lvl9pPr>
          </a:lstStyle>
          <a:p>
            <a:pPr>
              <a:buNone/>
              <a:defRPr sz="1275" b="0">
                <a:solidFill>
                  <a:srgbClr val="475569"/>
                </a:solidFill>
                <a:latin typeface="DejaVu Sans"/>
                <a:ea typeface="DejaVu Sans"/>
                <a:cs typeface="DejaVu Sans"/>
              </a:defRPr>
            </a:pPr>
            <a:r>
              <a:rPr sz="1275" b="0">
                <a:solidFill>
                  <a:srgbClr val="475569"/>
                </a:solidFill>
                <a:latin typeface="DejaVu Sans"/>
                <a:ea typeface="DejaVu Sans"/>
                <a:cs typeface="DejaVu Sans"/>
              </a:rPr>
              <a:t>(Madaan, 2024; Rahman, 2023; Ripley, 2024)</a:t>
            </a:r>
          </a:p>
        </p:txBody>
      </p:sp>
      <p:sp>
        <p:nvSpPr>
          <p:cNvPr id="3" name="text-2">
            <a:extLst>
              <a:ext uri="{FF2B5EF4-FFF2-40B4-BE49-F238E27FC236}">
                <a16:creationId xmlns:a16="http://schemas.microsoft.com/office/drawing/2014/main" id="{93D7BCC4-2727-4154-A85C-ECCF2A439029}"/>
              </a:ext>
            </a:extLst>
          </p:cNvPr>
          <p:cNvSpPr>
            <a:spLocks noGrp="1"/>
          </p:cNvSpPr>
          <p:nvPr/>
        </p:nvSpPr>
        <p:spPr>
          <a:xfrm>
            <a:off x="609600" y="147637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Requirement stability</a:t>
            </a:r>
          </a:p>
        </p:txBody>
      </p:sp>
      <p:sp>
        <p:nvSpPr>
          <p:cNvPr id="4" name="text-3">
            <a:extLst>
              <a:ext uri="{FF2B5EF4-FFF2-40B4-BE49-F238E27FC236}">
                <a16:creationId xmlns:a16="http://schemas.microsoft.com/office/drawing/2014/main" id="{9CF7E25A-C310-4CF0-B5E5-0319A3538B0A}"/>
              </a:ext>
            </a:extLst>
          </p:cNvPr>
          <p:cNvSpPr>
            <a:spLocks noGrp="1"/>
          </p:cNvSpPr>
          <p:nvPr/>
        </p:nvSpPr>
        <p:spPr>
          <a:xfrm>
            <a:off x="3714750" y="147637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Agile fits evolving needs. Predictive planning may fit a well-understood, stable scope.</a:t>
            </a:r>
          </a:p>
        </p:txBody>
      </p:sp>
      <p:sp>
        <p:nvSpPr>
          <p:cNvPr id="5" name="text-4">
            <a:extLst>
              <a:ext uri="{FF2B5EF4-FFF2-40B4-BE49-F238E27FC236}">
                <a16:creationId xmlns:a16="http://schemas.microsoft.com/office/drawing/2014/main" id="{20094CF4-D3B7-4B2E-88E3-358F8E4BC19F}"/>
              </a:ext>
            </a:extLst>
          </p:cNvPr>
          <p:cNvSpPr>
            <a:spLocks noGrp="1"/>
          </p:cNvSpPr>
          <p:nvPr/>
        </p:nvSpPr>
        <p:spPr>
          <a:xfrm>
            <a:off x="609600" y="261937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Feedback access</a:t>
            </a:r>
          </a:p>
        </p:txBody>
      </p:sp>
      <p:sp>
        <p:nvSpPr>
          <p:cNvPr id="6" name="text-5">
            <a:extLst>
              <a:ext uri="{FF2B5EF4-FFF2-40B4-BE49-F238E27FC236}">
                <a16:creationId xmlns:a16="http://schemas.microsoft.com/office/drawing/2014/main" id="{706E04FE-F940-4D37-85BE-C0AE746C8086}"/>
              </a:ext>
            </a:extLst>
          </p:cNvPr>
          <p:cNvSpPr>
            <a:spLocks noGrp="1"/>
          </p:cNvSpPr>
          <p:nvPr/>
        </p:nvSpPr>
        <p:spPr>
          <a:xfrm>
            <a:off x="3714750" y="261937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Frequent stakeholder decisions support Agile. Limited availability increases the risk of unresolved priorities.</a:t>
            </a:r>
          </a:p>
        </p:txBody>
      </p:sp>
      <p:sp>
        <p:nvSpPr>
          <p:cNvPr id="7" name="text-6">
            <a:extLst>
              <a:ext uri="{FF2B5EF4-FFF2-40B4-BE49-F238E27FC236}">
                <a16:creationId xmlns:a16="http://schemas.microsoft.com/office/drawing/2014/main" id="{A24F221E-6464-44E7-A9E1-A2AB157148AA}"/>
              </a:ext>
            </a:extLst>
          </p:cNvPr>
          <p:cNvSpPr>
            <a:spLocks noGrp="1"/>
          </p:cNvSpPr>
          <p:nvPr/>
        </p:nvSpPr>
        <p:spPr>
          <a:xfrm>
            <a:off x="609600" y="376237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Delivery constraints</a:t>
            </a:r>
          </a:p>
        </p:txBody>
      </p:sp>
      <p:sp>
        <p:nvSpPr>
          <p:cNvPr id="8" name="text-7">
            <a:extLst>
              <a:ext uri="{FF2B5EF4-FFF2-40B4-BE49-F238E27FC236}">
                <a16:creationId xmlns:a16="http://schemas.microsoft.com/office/drawing/2014/main" id="{DE183265-82E1-45B3-860E-F763342B7A0B}"/>
              </a:ext>
            </a:extLst>
          </p:cNvPr>
          <p:cNvSpPr>
            <a:spLocks noGrp="1"/>
          </p:cNvSpPr>
          <p:nvPr/>
        </p:nvSpPr>
        <p:spPr>
          <a:xfrm>
            <a:off x="3714750" y="376237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Small, independently testable changes favor iteration. Fixed dependencies may require milestone coordination.</a:t>
            </a:r>
          </a:p>
        </p:txBody>
      </p:sp>
      <p:sp>
        <p:nvSpPr>
          <p:cNvPr id="9" name="text-8">
            <a:extLst>
              <a:ext uri="{FF2B5EF4-FFF2-40B4-BE49-F238E27FC236}">
                <a16:creationId xmlns:a16="http://schemas.microsoft.com/office/drawing/2014/main" id="{A57674EB-5A79-40ED-9501-ECEB01A61C0B}"/>
              </a:ext>
            </a:extLst>
          </p:cNvPr>
          <p:cNvSpPr>
            <a:spLocks noGrp="1"/>
          </p:cNvSpPr>
          <p:nvPr/>
        </p:nvSpPr>
        <p:spPr>
          <a:xfrm>
            <a:off x="609600" y="4905375"/>
            <a:ext cx="2905125" cy="571500"/>
          </a:xfrm>
          <a:prstGeom prst="rect">
            <a:avLst/>
          </a:prstGeom>
          <a:noFill/>
          <a:ln w="0">
            <a:noFill/>
            <a:prstDash val="solid"/>
          </a:ln>
        </p:spPr>
        <p:txBody>
          <a:bodyPr lIns="0" tIns="0" rIns="0" bIns="0"/>
          <a:lstStyle>
            <a:defPPr>
              <a:defRPr sz="2100" b="1">
                <a:solidFill>
                  <a:srgbClr val="087E8B"/>
                </a:solidFill>
                <a:latin typeface="DejaVu Sans"/>
                <a:ea typeface="DejaVu Sans"/>
                <a:cs typeface="DejaVu Sans"/>
              </a:defRPr>
            </a:defPPr>
            <a:lvl1pPr>
              <a:defRPr sz="2100" b="1">
                <a:solidFill>
                  <a:srgbClr val="087E8B"/>
                </a:solidFill>
                <a:latin typeface="DejaVu Sans"/>
                <a:ea typeface="DejaVu Sans"/>
                <a:cs typeface="DejaVu Sans"/>
              </a:defRPr>
            </a:lvl1pPr>
            <a:lvl2pPr>
              <a:defRPr sz="2100" b="1">
                <a:solidFill>
                  <a:srgbClr val="087E8B"/>
                </a:solidFill>
                <a:latin typeface="DejaVu Sans"/>
                <a:ea typeface="DejaVu Sans"/>
                <a:cs typeface="DejaVu Sans"/>
              </a:defRPr>
            </a:lvl2pPr>
            <a:lvl3pPr>
              <a:defRPr sz="2100" b="1">
                <a:solidFill>
                  <a:srgbClr val="087E8B"/>
                </a:solidFill>
                <a:latin typeface="DejaVu Sans"/>
                <a:ea typeface="DejaVu Sans"/>
                <a:cs typeface="DejaVu Sans"/>
              </a:defRPr>
            </a:lvl3pPr>
            <a:lvl4pPr>
              <a:defRPr sz="2100" b="1">
                <a:solidFill>
                  <a:srgbClr val="087E8B"/>
                </a:solidFill>
                <a:latin typeface="DejaVu Sans"/>
                <a:ea typeface="DejaVu Sans"/>
                <a:cs typeface="DejaVu Sans"/>
              </a:defRPr>
            </a:lvl4pPr>
            <a:lvl5pPr>
              <a:defRPr sz="2100" b="1">
                <a:solidFill>
                  <a:srgbClr val="087E8B"/>
                </a:solidFill>
                <a:latin typeface="DejaVu Sans"/>
                <a:ea typeface="DejaVu Sans"/>
                <a:cs typeface="DejaVu Sans"/>
              </a:defRPr>
            </a:lvl5pPr>
            <a:lvl6pPr>
              <a:defRPr sz="2100" b="1">
                <a:solidFill>
                  <a:srgbClr val="087E8B"/>
                </a:solidFill>
                <a:latin typeface="DejaVu Sans"/>
                <a:ea typeface="DejaVu Sans"/>
                <a:cs typeface="DejaVu Sans"/>
              </a:defRPr>
            </a:lvl6pPr>
            <a:lvl7pPr>
              <a:defRPr sz="2100" b="1">
                <a:solidFill>
                  <a:srgbClr val="087E8B"/>
                </a:solidFill>
                <a:latin typeface="DejaVu Sans"/>
                <a:ea typeface="DejaVu Sans"/>
                <a:cs typeface="DejaVu Sans"/>
              </a:defRPr>
            </a:lvl7pPr>
            <a:lvl8pPr>
              <a:defRPr sz="2100" b="1">
                <a:solidFill>
                  <a:srgbClr val="087E8B"/>
                </a:solidFill>
                <a:latin typeface="DejaVu Sans"/>
                <a:ea typeface="DejaVu Sans"/>
                <a:cs typeface="DejaVu Sans"/>
              </a:defRPr>
            </a:lvl8pPr>
            <a:lvl9pPr>
              <a:defRPr sz="2100" b="1">
                <a:solidFill>
                  <a:srgbClr val="087E8B"/>
                </a:solidFill>
                <a:latin typeface="DejaVu Sans"/>
                <a:ea typeface="DejaVu Sans"/>
                <a:cs typeface="DejaVu Sans"/>
              </a:defRPr>
            </a:lvl9pPr>
          </a:lstStyle>
          <a:p>
            <a:pPr>
              <a:buNone/>
              <a:defRPr sz="2100" b="1">
                <a:solidFill>
                  <a:srgbClr val="087E8B"/>
                </a:solidFill>
                <a:latin typeface="DejaVu Sans"/>
                <a:ea typeface="DejaVu Sans"/>
                <a:cs typeface="DejaVu Sans"/>
              </a:defRPr>
            </a:pPr>
            <a:r>
              <a:rPr sz="2100" b="1">
                <a:solidFill>
                  <a:srgbClr val="087E8B"/>
                </a:solidFill>
                <a:latin typeface="DejaVu Sans"/>
                <a:ea typeface="DejaVu Sans"/>
                <a:cs typeface="DejaVu Sans"/>
              </a:rPr>
              <a:t>Team capability</a:t>
            </a:r>
          </a:p>
        </p:txBody>
      </p:sp>
      <p:sp>
        <p:nvSpPr>
          <p:cNvPr id="10" name="text-9">
            <a:extLst>
              <a:ext uri="{FF2B5EF4-FFF2-40B4-BE49-F238E27FC236}">
                <a16:creationId xmlns:a16="http://schemas.microsoft.com/office/drawing/2014/main" id="{C9FB64FF-DAAE-4B91-8FB1-91FE4AAB23ED}"/>
              </a:ext>
            </a:extLst>
          </p:cNvPr>
          <p:cNvSpPr>
            <a:spLocks noGrp="1"/>
          </p:cNvSpPr>
          <p:nvPr/>
        </p:nvSpPr>
        <p:spPr>
          <a:xfrm>
            <a:off x="3714750" y="4905375"/>
            <a:ext cx="7810500" cy="809625"/>
          </a:xfrm>
          <a:prstGeom prst="rect">
            <a:avLst/>
          </a:prstGeom>
          <a:noFill/>
          <a:ln w="0">
            <a:noFill/>
            <a:prstDash val="solid"/>
          </a:ln>
        </p:spPr>
        <p:txBody>
          <a:bodyPr lIns="0" tIns="0" rIns="0" bIns="0"/>
          <a:lstStyle>
            <a:defPPr>
              <a:defRPr sz="2025" b="0">
                <a:solidFill>
                  <a:srgbClr val="142B3B"/>
                </a:solidFill>
                <a:latin typeface="DejaVu Sans"/>
                <a:ea typeface="DejaVu Sans"/>
                <a:cs typeface="DejaVu Sans"/>
              </a:defRPr>
            </a:defPPr>
            <a:lvl1pPr>
              <a:defRPr sz="2025" b="0">
                <a:solidFill>
                  <a:srgbClr val="142B3B"/>
                </a:solidFill>
                <a:latin typeface="DejaVu Sans"/>
                <a:ea typeface="DejaVu Sans"/>
                <a:cs typeface="DejaVu Sans"/>
              </a:defRPr>
            </a:lvl1pPr>
            <a:lvl2pPr>
              <a:defRPr sz="2025" b="0">
                <a:solidFill>
                  <a:srgbClr val="142B3B"/>
                </a:solidFill>
                <a:latin typeface="DejaVu Sans"/>
                <a:ea typeface="DejaVu Sans"/>
                <a:cs typeface="DejaVu Sans"/>
              </a:defRPr>
            </a:lvl2pPr>
            <a:lvl3pPr>
              <a:defRPr sz="2025" b="0">
                <a:solidFill>
                  <a:srgbClr val="142B3B"/>
                </a:solidFill>
                <a:latin typeface="DejaVu Sans"/>
                <a:ea typeface="DejaVu Sans"/>
                <a:cs typeface="DejaVu Sans"/>
              </a:defRPr>
            </a:lvl3pPr>
            <a:lvl4pPr>
              <a:defRPr sz="2025" b="0">
                <a:solidFill>
                  <a:srgbClr val="142B3B"/>
                </a:solidFill>
                <a:latin typeface="DejaVu Sans"/>
                <a:ea typeface="DejaVu Sans"/>
                <a:cs typeface="DejaVu Sans"/>
              </a:defRPr>
            </a:lvl4pPr>
            <a:lvl5pPr>
              <a:defRPr sz="2025" b="0">
                <a:solidFill>
                  <a:srgbClr val="142B3B"/>
                </a:solidFill>
                <a:latin typeface="DejaVu Sans"/>
                <a:ea typeface="DejaVu Sans"/>
                <a:cs typeface="DejaVu Sans"/>
              </a:defRPr>
            </a:lvl5pPr>
            <a:lvl6pPr>
              <a:defRPr sz="2025" b="0">
                <a:solidFill>
                  <a:srgbClr val="142B3B"/>
                </a:solidFill>
                <a:latin typeface="DejaVu Sans"/>
                <a:ea typeface="DejaVu Sans"/>
                <a:cs typeface="DejaVu Sans"/>
              </a:defRPr>
            </a:lvl6pPr>
            <a:lvl7pPr>
              <a:defRPr sz="2025" b="0">
                <a:solidFill>
                  <a:srgbClr val="142B3B"/>
                </a:solidFill>
                <a:latin typeface="DejaVu Sans"/>
                <a:ea typeface="DejaVu Sans"/>
                <a:cs typeface="DejaVu Sans"/>
              </a:defRPr>
            </a:lvl7pPr>
            <a:lvl8pPr>
              <a:defRPr sz="2025" b="0">
                <a:solidFill>
                  <a:srgbClr val="142B3B"/>
                </a:solidFill>
                <a:latin typeface="DejaVu Sans"/>
                <a:ea typeface="DejaVu Sans"/>
                <a:cs typeface="DejaVu Sans"/>
              </a:defRPr>
            </a:lvl8pPr>
            <a:lvl9pPr>
              <a:defRPr sz="2025" b="0">
                <a:solidFill>
                  <a:srgbClr val="142B3B"/>
                </a:solidFill>
                <a:latin typeface="DejaVu Sans"/>
                <a:ea typeface="DejaVu Sans"/>
                <a:cs typeface="DejaVu Sans"/>
              </a:defRPr>
            </a:lvl9pPr>
          </a:lstStyle>
          <a:p>
            <a:pPr>
              <a:buNone/>
              <a:defRPr sz="2025" b="0">
                <a:solidFill>
                  <a:srgbClr val="142B3B"/>
                </a:solidFill>
                <a:latin typeface="DejaVu Sans"/>
                <a:ea typeface="DejaVu Sans"/>
                <a:cs typeface="DejaVu Sans"/>
              </a:defRPr>
            </a:pPr>
            <a:r>
              <a:rPr sz="2025" b="0">
                <a:solidFill>
                  <a:srgbClr val="142B3B"/>
                </a:solidFill>
                <a:latin typeface="DejaVu Sans"/>
                <a:ea typeface="DejaVu Sans"/>
                <a:cs typeface="DejaVu Sans"/>
              </a:rPr>
              <a:t>Repeated releases need testing discipline and usable architecture. Scrum alone cannot remove technical debt.</a:t>
            </a:r>
          </a:p>
        </p:txBody>
      </p:sp>
    </p:spTree>
    <p:extLst>
      <p:ext uri="{BB962C8B-B14F-4D97-AF65-F5344CB8AC3E}">
        <p14:creationId xmlns:p14="http://schemas.microsoft.com/office/powerpoint/2010/main" val="1854435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127E396F-A5C6-4C48-AE83-EA1780272BB8}"/>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dirty="0">
                <a:solidFill>
                  <a:srgbClr val="142B3B"/>
                </a:solidFill>
                <a:latin typeface="DejaVu Sans"/>
                <a:ea typeface="DejaVu Sans"/>
                <a:cs typeface="DejaVu Sans"/>
              </a:rPr>
              <a:t>Recommendation for ChadaTech</a:t>
            </a:r>
          </a:p>
        </p:txBody>
      </p:sp>
      <p:sp>
        <p:nvSpPr>
          <p:cNvPr id="2" name="text-1">
            <a:extLst>
              <a:ext uri="{FF2B5EF4-FFF2-40B4-BE49-F238E27FC236}">
                <a16:creationId xmlns:a16="http://schemas.microsoft.com/office/drawing/2014/main" id="{BB230D65-323E-4931-85DF-0B21810E9CCC}"/>
              </a:ext>
            </a:extLst>
          </p:cNvPr>
          <p:cNvSpPr>
            <a:spLocks noGrp="1"/>
          </p:cNvSpPr>
          <p:nvPr/>
        </p:nvSpPr>
        <p:spPr>
          <a:xfrm>
            <a:off x="609600" y="6334125"/>
            <a:ext cx="10972800" cy="323850"/>
          </a:xfrm>
          <a:prstGeom prst="rect">
            <a:avLst/>
          </a:prstGeom>
          <a:noFill/>
          <a:ln w="0">
            <a:noFill/>
            <a:prstDash val="solid"/>
          </a:ln>
        </p:spPr>
        <p:txBody>
          <a:bodyPr lIns="0" tIns="0" rIns="0" bIns="0"/>
          <a:lstStyle>
            <a:defPPr>
              <a:defRPr sz="1275" b="0">
                <a:solidFill>
                  <a:srgbClr val="475569"/>
                </a:solidFill>
                <a:latin typeface="DejaVu Sans"/>
                <a:ea typeface="DejaVu Sans"/>
                <a:cs typeface="DejaVu Sans"/>
              </a:defRPr>
            </a:defPPr>
            <a:lvl1pPr>
              <a:defRPr sz="1275" b="0">
                <a:solidFill>
                  <a:srgbClr val="475569"/>
                </a:solidFill>
                <a:latin typeface="DejaVu Sans"/>
                <a:ea typeface="DejaVu Sans"/>
                <a:cs typeface="DejaVu Sans"/>
              </a:defRPr>
            </a:lvl1pPr>
            <a:lvl2pPr>
              <a:defRPr sz="1275" b="0">
                <a:solidFill>
                  <a:srgbClr val="475569"/>
                </a:solidFill>
                <a:latin typeface="DejaVu Sans"/>
                <a:ea typeface="DejaVu Sans"/>
                <a:cs typeface="DejaVu Sans"/>
              </a:defRPr>
            </a:lvl2pPr>
            <a:lvl3pPr>
              <a:defRPr sz="1275" b="0">
                <a:solidFill>
                  <a:srgbClr val="475569"/>
                </a:solidFill>
                <a:latin typeface="DejaVu Sans"/>
                <a:ea typeface="DejaVu Sans"/>
                <a:cs typeface="DejaVu Sans"/>
              </a:defRPr>
            </a:lvl3pPr>
            <a:lvl4pPr>
              <a:defRPr sz="1275" b="0">
                <a:solidFill>
                  <a:srgbClr val="475569"/>
                </a:solidFill>
                <a:latin typeface="DejaVu Sans"/>
                <a:ea typeface="DejaVu Sans"/>
                <a:cs typeface="DejaVu Sans"/>
              </a:defRPr>
            </a:lvl4pPr>
            <a:lvl5pPr>
              <a:defRPr sz="1275" b="0">
                <a:solidFill>
                  <a:srgbClr val="475569"/>
                </a:solidFill>
                <a:latin typeface="DejaVu Sans"/>
                <a:ea typeface="DejaVu Sans"/>
                <a:cs typeface="DejaVu Sans"/>
              </a:defRPr>
            </a:lvl5pPr>
            <a:lvl6pPr>
              <a:defRPr sz="1275" b="0">
                <a:solidFill>
                  <a:srgbClr val="475569"/>
                </a:solidFill>
                <a:latin typeface="DejaVu Sans"/>
                <a:ea typeface="DejaVu Sans"/>
                <a:cs typeface="DejaVu Sans"/>
              </a:defRPr>
            </a:lvl6pPr>
            <a:lvl7pPr>
              <a:defRPr sz="1275" b="0">
                <a:solidFill>
                  <a:srgbClr val="475569"/>
                </a:solidFill>
                <a:latin typeface="DejaVu Sans"/>
                <a:ea typeface="DejaVu Sans"/>
                <a:cs typeface="DejaVu Sans"/>
              </a:defRPr>
            </a:lvl7pPr>
            <a:lvl8pPr>
              <a:defRPr sz="1275" b="0">
                <a:solidFill>
                  <a:srgbClr val="475569"/>
                </a:solidFill>
                <a:latin typeface="DejaVu Sans"/>
                <a:ea typeface="DejaVu Sans"/>
                <a:cs typeface="DejaVu Sans"/>
              </a:defRPr>
            </a:lvl8pPr>
            <a:lvl9pPr>
              <a:defRPr sz="1275" b="0">
                <a:solidFill>
                  <a:srgbClr val="475569"/>
                </a:solidFill>
                <a:latin typeface="DejaVu Sans"/>
                <a:ea typeface="DejaVu Sans"/>
                <a:cs typeface="DejaVu Sans"/>
              </a:defRPr>
            </a:lvl9pPr>
          </a:lstStyle>
          <a:p>
            <a:pPr>
              <a:buNone/>
              <a:defRPr sz="1275" b="0">
                <a:solidFill>
                  <a:srgbClr val="475569"/>
                </a:solidFill>
                <a:latin typeface="DejaVu Sans"/>
                <a:ea typeface="DejaVu Sans"/>
                <a:cs typeface="DejaVu Sans"/>
              </a:defRPr>
            </a:pPr>
            <a:r>
              <a:rPr sz="1275" b="0">
                <a:solidFill>
                  <a:srgbClr val="475569"/>
                </a:solidFill>
                <a:latin typeface="DejaVu Sans"/>
                <a:ea typeface="DejaVu Sans"/>
                <a:cs typeface="DejaVu Sans"/>
              </a:rPr>
              <a:t>Recommendation based on project experience and Ripley (2024)</a:t>
            </a:r>
          </a:p>
        </p:txBody>
      </p:sp>
      <p:sp>
        <p:nvSpPr>
          <p:cNvPr id="3" name="text-2">
            <a:extLst>
              <a:ext uri="{FF2B5EF4-FFF2-40B4-BE49-F238E27FC236}">
                <a16:creationId xmlns:a16="http://schemas.microsoft.com/office/drawing/2014/main" id="{45187872-6347-4A3F-9126-EE51F56AD91D}"/>
              </a:ext>
            </a:extLst>
          </p:cNvPr>
          <p:cNvSpPr>
            <a:spLocks noGrp="1"/>
          </p:cNvSpPr>
          <p:nvPr/>
        </p:nvSpPr>
        <p:spPr>
          <a:xfrm>
            <a:off x="609600" y="1571625"/>
            <a:ext cx="10668000" cy="857250"/>
          </a:xfrm>
          <a:prstGeom prst="rect">
            <a:avLst/>
          </a:prstGeom>
          <a:noFill/>
          <a:ln w="0">
            <a:noFill/>
            <a:prstDash val="solid"/>
          </a:ln>
        </p:spPr>
        <p:txBody>
          <a:bodyPr lIns="0" tIns="0" rIns="0" bIns="0"/>
          <a:lstStyle>
            <a:defPPr>
              <a:defRPr sz="3000" b="1">
                <a:solidFill>
                  <a:srgbClr val="087E8B"/>
                </a:solidFill>
                <a:latin typeface="DejaVu Sans"/>
                <a:ea typeface="DejaVu Sans"/>
                <a:cs typeface="DejaVu Sans"/>
              </a:defRPr>
            </a:defPPr>
            <a:lvl1pPr>
              <a:defRPr sz="3000" b="1">
                <a:solidFill>
                  <a:srgbClr val="087E8B"/>
                </a:solidFill>
                <a:latin typeface="DejaVu Sans"/>
                <a:ea typeface="DejaVu Sans"/>
                <a:cs typeface="DejaVu Sans"/>
              </a:defRPr>
            </a:lvl1pPr>
            <a:lvl2pPr>
              <a:defRPr sz="3000" b="1">
                <a:solidFill>
                  <a:srgbClr val="087E8B"/>
                </a:solidFill>
                <a:latin typeface="DejaVu Sans"/>
                <a:ea typeface="DejaVu Sans"/>
                <a:cs typeface="DejaVu Sans"/>
              </a:defRPr>
            </a:lvl2pPr>
            <a:lvl3pPr>
              <a:defRPr sz="3000" b="1">
                <a:solidFill>
                  <a:srgbClr val="087E8B"/>
                </a:solidFill>
                <a:latin typeface="DejaVu Sans"/>
                <a:ea typeface="DejaVu Sans"/>
                <a:cs typeface="DejaVu Sans"/>
              </a:defRPr>
            </a:lvl3pPr>
            <a:lvl4pPr>
              <a:defRPr sz="3000" b="1">
                <a:solidFill>
                  <a:srgbClr val="087E8B"/>
                </a:solidFill>
                <a:latin typeface="DejaVu Sans"/>
                <a:ea typeface="DejaVu Sans"/>
                <a:cs typeface="DejaVu Sans"/>
              </a:defRPr>
            </a:lvl4pPr>
            <a:lvl5pPr>
              <a:defRPr sz="3000" b="1">
                <a:solidFill>
                  <a:srgbClr val="087E8B"/>
                </a:solidFill>
                <a:latin typeface="DejaVu Sans"/>
                <a:ea typeface="DejaVu Sans"/>
                <a:cs typeface="DejaVu Sans"/>
              </a:defRPr>
            </a:lvl5pPr>
            <a:lvl6pPr>
              <a:defRPr sz="3000" b="1">
                <a:solidFill>
                  <a:srgbClr val="087E8B"/>
                </a:solidFill>
                <a:latin typeface="DejaVu Sans"/>
                <a:ea typeface="DejaVu Sans"/>
                <a:cs typeface="DejaVu Sans"/>
              </a:defRPr>
            </a:lvl6pPr>
            <a:lvl7pPr>
              <a:defRPr sz="3000" b="1">
                <a:solidFill>
                  <a:srgbClr val="087E8B"/>
                </a:solidFill>
                <a:latin typeface="DejaVu Sans"/>
                <a:ea typeface="DejaVu Sans"/>
                <a:cs typeface="DejaVu Sans"/>
              </a:defRPr>
            </a:lvl7pPr>
            <a:lvl8pPr>
              <a:defRPr sz="3000" b="1">
                <a:solidFill>
                  <a:srgbClr val="087E8B"/>
                </a:solidFill>
                <a:latin typeface="DejaVu Sans"/>
                <a:ea typeface="DejaVu Sans"/>
                <a:cs typeface="DejaVu Sans"/>
              </a:defRPr>
            </a:lvl8pPr>
            <a:lvl9pPr>
              <a:defRPr sz="3000" b="1">
                <a:solidFill>
                  <a:srgbClr val="087E8B"/>
                </a:solidFill>
                <a:latin typeface="DejaVu Sans"/>
                <a:ea typeface="DejaVu Sans"/>
                <a:cs typeface="DejaVu Sans"/>
              </a:defRPr>
            </a:lvl9pPr>
          </a:lstStyle>
          <a:p>
            <a:pPr>
              <a:buNone/>
              <a:defRPr sz="3000" b="1">
                <a:solidFill>
                  <a:srgbClr val="087E8B"/>
                </a:solidFill>
                <a:latin typeface="DejaVu Sans"/>
                <a:ea typeface="DejaVu Sans"/>
                <a:cs typeface="DejaVu Sans"/>
              </a:defRPr>
            </a:pPr>
            <a:r>
              <a:rPr sz="3000" b="1">
                <a:solidFill>
                  <a:srgbClr val="087E8B"/>
                </a:solidFill>
                <a:latin typeface="DejaVu Sans"/>
                <a:ea typeface="DejaVu Sans"/>
                <a:cs typeface="DejaVu Sans"/>
              </a:rPr>
              <a:t>Continue Scrum for evolving travel features</a:t>
            </a:r>
          </a:p>
        </p:txBody>
      </p:sp>
      <p:sp>
        <p:nvSpPr>
          <p:cNvPr id="4" name="text-3">
            <a:extLst>
              <a:ext uri="{FF2B5EF4-FFF2-40B4-BE49-F238E27FC236}">
                <a16:creationId xmlns:a16="http://schemas.microsoft.com/office/drawing/2014/main" id="{B77BC6D9-AE1B-4D38-8D2A-DDEF50142C26}"/>
              </a:ext>
            </a:extLst>
          </p:cNvPr>
          <p:cNvSpPr>
            <a:spLocks noGrp="1"/>
          </p:cNvSpPr>
          <p:nvPr/>
        </p:nvSpPr>
        <p:spPr>
          <a:xfrm>
            <a:off x="609600" y="2667000"/>
            <a:ext cx="10668000" cy="1047750"/>
          </a:xfrm>
          <a:prstGeom prst="rect">
            <a:avLst/>
          </a:prstGeom>
          <a:noFill/>
          <a:ln w="0">
            <a:noFill/>
            <a:prstDash val="solid"/>
          </a:ln>
        </p:spPr>
        <p:txBody>
          <a:bodyPr lIns="0" tIns="0" rIns="0" bIns="0"/>
          <a:lstStyle>
            <a:defPPr>
              <a:defRPr sz="2175" b="0">
                <a:solidFill>
                  <a:srgbClr val="142B3B"/>
                </a:solidFill>
                <a:latin typeface="DejaVu Sans"/>
                <a:ea typeface="DejaVu Sans"/>
                <a:cs typeface="DejaVu Sans"/>
              </a:defRPr>
            </a:defPPr>
            <a:lvl1pPr>
              <a:defRPr sz="2175" b="0">
                <a:solidFill>
                  <a:srgbClr val="142B3B"/>
                </a:solidFill>
                <a:latin typeface="DejaVu Sans"/>
                <a:ea typeface="DejaVu Sans"/>
                <a:cs typeface="DejaVu Sans"/>
              </a:defRPr>
            </a:lvl1pPr>
            <a:lvl2pPr>
              <a:defRPr sz="2175" b="0">
                <a:solidFill>
                  <a:srgbClr val="142B3B"/>
                </a:solidFill>
                <a:latin typeface="DejaVu Sans"/>
                <a:ea typeface="DejaVu Sans"/>
                <a:cs typeface="DejaVu Sans"/>
              </a:defRPr>
            </a:lvl2pPr>
            <a:lvl3pPr>
              <a:defRPr sz="2175" b="0">
                <a:solidFill>
                  <a:srgbClr val="142B3B"/>
                </a:solidFill>
                <a:latin typeface="DejaVu Sans"/>
                <a:ea typeface="DejaVu Sans"/>
                <a:cs typeface="DejaVu Sans"/>
              </a:defRPr>
            </a:lvl3pPr>
            <a:lvl4pPr>
              <a:defRPr sz="2175" b="0">
                <a:solidFill>
                  <a:srgbClr val="142B3B"/>
                </a:solidFill>
                <a:latin typeface="DejaVu Sans"/>
                <a:ea typeface="DejaVu Sans"/>
                <a:cs typeface="DejaVu Sans"/>
              </a:defRPr>
            </a:lvl4pPr>
            <a:lvl5pPr>
              <a:defRPr sz="2175" b="0">
                <a:solidFill>
                  <a:srgbClr val="142B3B"/>
                </a:solidFill>
                <a:latin typeface="DejaVu Sans"/>
                <a:ea typeface="DejaVu Sans"/>
                <a:cs typeface="DejaVu Sans"/>
              </a:defRPr>
            </a:lvl5pPr>
            <a:lvl6pPr>
              <a:defRPr sz="2175" b="0">
                <a:solidFill>
                  <a:srgbClr val="142B3B"/>
                </a:solidFill>
                <a:latin typeface="DejaVu Sans"/>
                <a:ea typeface="DejaVu Sans"/>
                <a:cs typeface="DejaVu Sans"/>
              </a:defRPr>
            </a:lvl6pPr>
            <a:lvl7pPr>
              <a:defRPr sz="2175" b="0">
                <a:solidFill>
                  <a:srgbClr val="142B3B"/>
                </a:solidFill>
                <a:latin typeface="DejaVu Sans"/>
                <a:ea typeface="DejaVu Sans"/>
                <a:cs typeface="DejaVu Sans"/>
              </a:defRPr>
            </a:lvl7pPr>
            <a:lvl8pPr>
              <a:defRPr sz="2175" b="0">
                <a:solidFill>
                  <a:srgbClr val="142B3B"/>
                </a:solidFill>
                <a:latin typeface="DejaVu Sans"/>
                <a:ea typeface="DejaVu Sans"/>
                <a:cs typeface="DejaVu Sans"/>
              </a:defRPr>
            </a:lvl8pPr>
            <a:lvl9pPr>
              <a:defRPr sz="2175" b="0">
                <a:solidFill>
                  <a:srgbClr val="142B3B"/>
                </a:solidFill>
                <a:latin typeface="DejaVu Sans"/>
                <a:ea typeface="DejaVu Sans"/>
                <a:cs typeface="DejaVu Sans"/>
              </a:defRPr>
            </a:lvl9pPr>
          </a:lstStyle>
          <a:p>
            <a:pPr>
              <a:buNone/>
              <a:defRPr sz="2175" b="0">
                <a:solidFill>
                  <a:srgbClr val="142B3B"/>
                </a:solidFill>
                <a:latin typeface="DejaVu Sans"/>
                <a:ea typeface="DejaVu Sans"/>
                <a:cs typeface="DejaVu Sans"/>
              </a:defRPr>
            </a:pPr>
            <a:r>
              <a:rPr sz="2175" b="0">
                <a:solidFill>
                  <a:srgbClr val="142B3B"/>
                </a:solidFill>
                <a:latin typeface="DejaVu Sans"/>
                <a:ea typeface="DejaVu Sans"/>
                <a:cs typeface="DejaVu Sans"/>
              </a:rPr>
              <a:t>The wellness update shows how small increments can accommodate changed requirements while preserving working features.</a:t>
            </a:r>
          </a:p>
        </p:txBody>
      </p:sp>
      <p:sp>
        <p:nvSpPr>
          <p:cNvPr id="5" name="text-4">
            <a:extLst>
              <a:ext uri="{FF2B5EF4-FFF2-40B4-BE49-F238E27FC236}">
                <a16:creationId xmlns:a16="http://schemas.microsoft.com/office/drawing/2014/main" id="{FCB757CD-7586-49D5-842D-0E891C7DF2C4}"/>
              </a:ext>
            </a:extLst>
          </p:cNvPr>
          <p:cNvSpPr>
            <a:spLocks noGrp="1"/>
          </p:cNvSpPr>
          <p:nvPr/>
        </p:nvSpPr>
        <p:spPr>
          <a:xfrm>
            <a:off x="609600" y="4048125"/>
            <a:ext cx="10668000" cy="1381125"/>
          </a:xfrm>
          <a:prstGeom prst="rect">
            <a:avLst/>
          </a:prstGeom>
          <a:noFill/>
          <a:ln w="0">
            <a:noFill/>
            <a:prstDash val="solid"/>
          </a:ln>
        </p:spPr>
        <p:txBody>
          <a:bodyPr lIns="0" tIns="0" rIns="0" bIns="0"/>
          <a:lstStyle>
            <a:defPPr>
              <a:defRPr sz="2175" b="0">
                <a:solidFill>
                  <a:srgbClr val="142B3B"/>
                </a:solidFill>
                <a:latin typeface="DejaVu Sans"/>
                <a:ea typeface="DejaVu Sans"/>
                <a:cs typeface="DejaVu Sans"/>
              </a:defRPr>
            </a:defPPr>
            <a:lvl1pPr>
              <a:defRPr sz="2175" b="0">
                <a:solidFill>
                  <a:srgbClr val="142B3B"/>
                </a:solidFill>
                <a:latin typeface="DejaVu Sans"/>
                <a:ea typeface="DejaVu Sans"/>
                <a:cs typeface="DejaVu Sans"/>
              </a:defRPr>
            </a:lvl1pPr>
            <a:lvl2pPr>
              <a:defRPr sz="2175" b="0">
                <a:solidFill>
                  <a:srgbClr val="142B3B"/>
                </a:solidFill>
                <a:latin typeface="DejaVu Sans"/>
                <a:ea typeface="DejaVu Sans"/>
                <a:cs typeface="DejaVu Sans"/>
              </a:defRPr>
            </a:lvl2pPr>
            <a:lvl3pPr>
              <a:defRPr sz="2175" b="0">
                <a:solidFill>
                  <a:srgbClr val="142B3B"/>
                </a:solidFill>
                <a:latin typeface="DejaVu Sans"/>
                <a:ea typeface="DejaVu Sans"/>
                <a:cs typeface="DejaVu Sans"/>
              </a:defRPr>
            </a:lvl3pPr>
            <a:lvl4pPr>
              <a:defRPr sz="2175" b="0">
                <a:solidFill>
                  <a:srgbClr val="142B3B"/>
                </a:solidFill>
                <a:latin typeface="DejaVu Sans"/>
                <a:ea typeface="DejaVu Sans"/>
                <a:cs typeface="DejaVu Sans"/>
              </a:defRPr>
            </a:lvl4pPr>
            <a:lvl5pPr>
              <a:defRPr sz="2175" b="0">
                <a:solidFill>
                  <a:srgbClr val="142B3B"/>
                </a:solidFill>
                <a:latin typeface="DejaVu Sans"/>
                <a:ea typeface="DejaVu Sans"/>
                <a:cs typeface="DejaVu Sans"/>
              </a:defRPr>
            </a:lvl5pPr>
            <a:lvl6pPr>
              <a:defRPr sz="2175" b="0">
                <a:solidFill>
                  <a:srgbClr val="142B3B"/>
                </a:solidFill>
                <a:latin typeface="DejaVu Sans"/>
                <a:ea typeface="DejaVu Sans"/>
                <a:cs typeface="DejaVu Sans"/>
              </a:defRPr>
            </a:lvl6pPr>
            <a:lvl7pPr>
              <a:defRPr sz="2175" b="0">
                <a:solidFill>
                  <a:srgbClr val="142B3B"/>
                </a:solidFill>
                <a:latin typeface="DejaVu Sans"/>
                <a:ea typeface="DejaVu Sans"/>
                <a:cs typeface="DejaVu Sans"/>
              </a:defRPr>
            </a:lvl7pPr>
            <a:lvl8pPr>
              <a:defRPr sz="2175" b="0">
                <a:solidFill>
                  <a:srgbClr val="142B3B"/>
                </a:solidFill>
                <a:latin typeface="DejaVu Sans"/>
                <a:ea typeface="DejaVu Sans"/>
                <a:cs typeface="DejaVu Sans"/>
              </a:defRPr>
            </a:lvl8pPr>
            <a:lvl9pPr>
              <a:defRPr sz="2175" b="0">
                <a:solidFill>
                  <a:srgbClr val="142B3B"/>
                </a:solidFill>
                <a:latin typeface="DejaVu Sans"/>
                <a:ea typeface="DejaVu Sans"/>
                <a:cs typeface="DejaVu Sans"/>
              </a:defRPr>
            </a:lvl9pPr>
          </a:lstStyle>
          <a:p>
            <a:pPr>
              <a:buNone/>
              <a:defRPr sz="2175" b="0">
                <a:solidFill>
                  <a:srgbClr val="142B3B"/>
                </a:solidFill>
                <a:latin typeface="DejaVu Sans"/>
                <a:ea typeface="DejaVu Sans"/>
                <a:cs typeface="DejaVu Sans"/>
              </a:defRPr>
            </a:pPr>
            <a:r>
              <a:rPr sz="2175" b="0">
                <a:solidFill>
                  <a:srgbClr val="142B3B"/>
                </a:solidFill>
                <a:latin typeface="DejaVu Sans"/>
                <a:ea typeface="DejaVu Sans"/>
                <a:cs typeface="DejaVu Sans"/>
              </a:rPr>
              <a:t>A broader pilot should use an available Product Owner, linked acceptance tests, and a shared backlog. Compare rework, escaped defects, and stakeholder feedback before wider adoption.</a:t>
            </a:r>
          </a:p>
        </p:txBody>
      </p:sp>
    </p:spTree>
    <p:extLst>
      <p:ext uri="{BB962C8B-B14F-4D97-AF65-F5344CB8AC3E}">
        <p14:creationId xmlns:p14="http://schemas.microsoft.com/office/powerpoint/2010/main" val="224205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B11C46D0-8EF1-45D4-A98B-820A968A2A5E}"/>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References</a:t>
            </a:r>
          </a:p>
        </p:txBody>
      </p:sp>
      <p:sp>
        <p:nvSpPr>
          <p:cNvPr id="2" name="text-1">
            <a:extLst>
              <a:ext uri="{FF2B5EF4-FFF2-40B4-BE49-F238E27FC236}">
                <a16:creationId xmlns:a16="http://schemas.microsoft.com/office/drawing/2014/main" id="{411ED8D5-8CDF-4B24-B8C8-9A7889C43ED9}"/>
              </a:ext>
            </a:extLst>
          </p:cNvPr>
          <p:cNvSpPr>
            <a:spLocks noGrp="1"/>
          </p:cNvSpPr>
          <p:nvPr/>
        </p:nvSpPr>
        <p:spPr>
          <a:xfrm>
            <a:off x="609600" y="1428750"/>
            <a:ext cx="10972800" cy="1257300"/>
          </a:xfrm>
          <a:prstGeom prst="rect">
            <a:avLst/>
          </a:prstGeom>
          <a:noFill/>
          <a:ln w="0">
            <a:noFill/>
            <a:prstDash val="solid"/>
          </a:ln>
        </p:spPr>
        <p:txBody>
          <a:bodyPr lIns="0" tIns="0" rIns="0" bIns="0"/>
          <a:lstStyle>
            <a:defPPr>
              <a:defRPr sz="1650" b="0">
                <a:solidFill>
                  <a:srgbClr val="142B3B"/>
                </a:solidFill>
                <a:latin typeface="DejaVu Sans"/>
                <a:ea typeface="DejaVu Sans"/>
                <a:cs typeface="DejaVu Sans"/>
              </a:defRPr>
            </a:defPPr>
            <a:lvl1pPr>
              <a:defRPr sz="1650" b="0">
                <a:solidFill>
                  <a:srgbClr val="142B3B"/>
                </a:solidFill>
                <a:latin typeface="DejaVu Sans"/>
                <a:ea typeface="DejaVu Sans"/>
                <a:cs typeface="DejaVu Sans"/>
              </a:defRPr>
            </a:lvl1pPr>
            <a:lvl2pPr>
              <a:defRPr sz="1650" b="0">
                <a:solidFill>
                  <a:srgbClr val="142B3B"/>
                </a:solidFill>
                <a:latin typeface="DejaVu Sans"/>
                <a:ea typeface="DejaVu Sans"/>
                <a:cs typeface="DejaVu Sans"/>
              </a:defRPr>
            </a:lvl2pPr>
            <a:lvl3pPr>
              <a:defRPr sz="1650" b="0">
                <a:solidFill>
                  <a:srgbClr val="142B3B"/>
                </a:solidFill>
                <a:latin typeface="DejaVu Sans"/>
                <a:ea typeface="DejaVu Sans"/>
                <a:cs typeface="DejaVu Sans"/>
              </a:defRPr>
            </a:lvl3pPr>
            <a:lvl4pPr>
              <a:defRPr sz="1650" b="0">
                <a:solidFill>
                  <a:srgbClr val="142B3B"/>
                </a:solidFill>
                <a:latin typeface="DejaVu Sans"/>
                <a:ea typeface="DejaVu Sans"/>
                <a:cs typeface="DejaVu Sans"/>
              </a:defRPr>
            </a:lvl4pPr>
            <a:lvl5pPr>
              <a:defRPr sz="1650" b="0">
                <a:solidFill>
                  <a:srgbClr val="142B3B"/>
                </a:solidFill>
                <a:latin typeface="DejaVu Sans"/>
                <a:ea typeface="DejaVu Sans"/>
                <a:cs typeface="DejaVu Sans"/>
              </a:defRPr>
            </a:lvl5pPr>
            <a:lvl6pPr>
              <a:defRPr sz="1650" b="0">
                <a:solidFill>
                  <a:srgbClr val="142B3B"/>
                </a:solidFill>
                <a:latin typeface="DejaVu Sans"/>
                <a:ea typeface="DejaVu Sans"/>
                <a:cs typeface="DejaVu Sans"/>
              </a:defRPr>
            </a:lvl6pPr>
            <a:lvl7pPr>
              <a:defRPr sz="1650" b="0">
                <a:solidFill>
                  <a:srgbClr val="142B3B"/>
                </a:solidFill>
                <a:latin typeface="DejaVu Sans"/>
                <a:ea typeface="DejaVu Sans"/>
                <a:cs typeface="DejaVu Sans"/>
              </a:defRPr>
            </a:lvl7pPr>
            <a:lvl8pPr>
              <a:defRPr sz="1650" b="0">
                <a:solidFill>
                  <a:srgbClr val="142B3B"/>
                </a:solidFill>
                <a:latin typeface="DejaVu Sans"/>
                <a:ea typeface="DejaVu Sans"/>
                <a:cs typeface="DejaVu Sans"/>
              </a:defRPr>
            </a:lvl8pPr>
            <a:lvl9pPr>
              <a:defRPr sz="1650" b="0">
                <a:solidFill>
                  <a:srgbClr val="142B3B"/>
                </a:solidFill>
                <a:latin typeface="DejaVu Sans"/>
                <a:ea typeface="DejaVu Sans"/>
                <a:cs typeface="DejaVu Sans"/>
              </a:defRPr>
            </a:lvl9pPr>
          </a:lstStyle>
          <a:p>
            <a:pPr>
              <a:buNone/>
              <a:defRPr sz="1650" b="0">
                <a:solidFill>
                  <a:srgbClr val="142B3B"/>
                </a:solidFill>
                <a:latin typeface="DejaVu Sans"/>
                <a:ea typeface="DejaVu Sans"/>
                <a:cs typeface="DejaVu Sans"/>
              </a:defRPr>
            </a:pPr>
            <a:r>
              <a:t>Jackson, G., Holdsworth, J., &amp; Kosinski, M. (n.d.). </a:t>
            </a:r>
            <a:r>
              <a:rPr i="1"/>
              <a:t>What is the software development life cycle (SDLC)?</a:t>
            </a:r>
            <a:r>
              <a:t> IBM.</a:t>
            </a:r>
            <a:br/>
            <a:r>
              <a:t>https://www.ibm.com/think/topics/sdlc</a:t>
            </a:r>
          </a:p>
        </p:txBody>
      </p:sp>
      <p:sp>
        <p:nvSpPr>
          <p:cNvPr id="3" name="text-2">
            <a:extLst>
              <a:ext uri="{FF2B5EF4-FFF2-40B4-BE49-F238E27FC236}">
                <a16:creationId xmlns:a16="http://schemas.microsoft.com/office/drawing/2014/main" id="{4D66339A-C64C-40BA-A946-F54F3D429223}"/>
              </a:ext>
            </a:extLst>
          </p:cNvPr>
          <p:cNvSpPr>
            <a:spLocks noGrp="1"/>
          </p:cNvSpPr>
          <p:nvPr/>
        </p:nvSpPr>
        <p:spPr>
          <a:xfrm>
            <a:off x="609600" y="2952750"/>
            <a:ext cx="10972800" cy="1257300"/>
          </a:xfrm>
          <a:prstGeom prst="rect">
            <a:avLst/>
          </a:prstGeom>
          <a:noFill/>
          <a:ln w="0">
            <a:noFill/>
            <a:prstDash val="solid"/>
          </a:ln>
        </p:spPr>
        <p:txBody>
          <a:bodyPr lIns="0" tIns="0" rIns="0" bIns="0"/>
          <a:lstStyle>
            <a:defPPr>
              <a:defRPr sz="1650" b="0">
                <a:solidFill>
                  <a:srgbClr val="142B3B"/>
                </a:solidFill>
                <a:latin typeface="DejaVu Sans"/>
                <a:ea typeface="DejaVu Sans"/>
                <a:cs typeface="DejaVu Sans"/>
              </a:defRPr>
            </a:defPPr>
            <a:lvl1pPr>
              <a:defRPr sz="1650" b="0">
                <a:solidFill>
                  <a:srgbClr val="142B3B"/>
                </a:solidFill>
                <a:latin typeface="DejaVu Sans"/>
                <a:ea typeface="DejaVu Sans"/>
                <a:cs typeface="DejaVu Sans"/>
              </a:defRPr>
            </a:lvl1pPr>
            <a:lvl2pPr>
              <a:defRPr sz="1650" b="0">
                <a:solidFill>
                  <a:srgbClr val="142B3B"/>
                </a:solidFill>
                <a:latin typeface="DejaVu Sans"/>
                <a:ea typeface="DejaVu Sans"/>
                <a:cs typeface="DejaVu Sans"/>
              </a:defRPr>
            </a:lvl2pPr>
            <a:lvl3pPr>
              <a:defRPr sz="1650" b="0">
                <a:solidFill>
                  <a:srgbClr val="142B3B"/>
                </a:solidFill>
                <a:latin typeface="DejaVu Sans"/>
                <a:ea typeface="DejaVu Sans"/>
                <a:cs typeface="DejaVu Sans"/>
              </a:defRPr>
            </a:lvl3pPr>
            <a:lvl4pPr>
              <a:defRPr sz="1650" b="0">
                <a:solidFill>
                  <a:srgbClr val="142B3B"/>
                </a:solidFill>
                <a:latin typeface="DejaVu Sans"/>
                <a:ea typeface="DejaVu Sans"/>
                <a:cs typeface="DejaVu Sans"/>
              </a:defRPr>
            </a:lvl4pPr>
            <a:lvl5pPr>
              <a:defRPr sz="1650" b="0">
                <a:solidFill>
                  <a:srgbClr val="142B3B"/>
                </a:solidFill>
                <a:latin typeface="DejaVu Sans"/>
                <a:ea typeface="DejaVu Sans"/>
                <a:cs typeface="DejaVu Sans"/>
              </a:defRPr>
            </a:lvl5pPr>
            <a:lvl6pPr>
              <a:defRPr sz="1650" b="0">
                <a:solidFill>
                  <a:srgbClr val="142B3B"/>
                </a:solidFill>
                <a:latin typeface="DejaVu Sans"/>
                <a:ea typeface="DejaVu Sans"/>
                <a:cs typeface="DejaVu Sans"/>
              </a:defRPr>
            </a:lvl6pPr>
            <a:lvl7pPr>
              <a:defRPr sz="1650" b="0">
                <a:solidFill>
                  <a:srgbClr val="142B3B"/>
                </a:solidFill>
                <a:latin typeface="DejaVu Sans"/>
                <a:ea typeface="DejaVu Sans"/>
                <a:cs typeface="DejaVu Sans"/>
              </a:defRPr>
            </a:lvl7pPr>
            <a:lvl8pPr>
              <a:defRPr sz="1650" b="0">
                <a:solidFill>
                  <a:srgbClr val="142B3B"/>
                </a:solidFill>
                <a:latin typeface="DejaVu Sans"/>
                <a:ea typeface="DejaVu Sans"/>
                <a:cs typeface="DejaVu Sans"/>
              </a:defRPr>
            </a:lvl8pPr>
            <a:lvl9pPr>
              <a:defRPr sz="1650" b="0">
                <a:solidFill>
                  <a:srgbClr val="142B3B"/>
                </a:solidFill>
                <a:latin typeface="DejaVu Sans"/>
                <a:ea typeface="DejaVu Sans"/>
                <a:cs typeface="DejaVu Sans"/>
              </a:defRPr>
            </a:lvl9pPr>
          </a:lstStyle>
          <a:p>
            <a:pPr>
              <a:buNone/>
              <a:defRPr sz="1650" b="0">
                <a:solidFill>
                  <a:srgbClr val="142B3B"/>
                </a:solidFill>
                <a:latin typeface="DejaVu Sans"/>
                <a:ea typeface="DejaVu Sans"/>
                <a:cs typeface="DejaVu Sans"/>
              </a:defRPr>
            </a:pPr>
            <a:r>
              <a:t>Madaan, K. (2024, April 30). </a:t>
            </a:r>
            <a:r>
              <a:rPr i="1"/>
              <a:t>Waterfall-ish playbook: How Jira Align helps traditional projects and portfolios succeed.</a:t>
            </a:r>
            <a:r>
              <a:t> Atlassian.</a:t>
            </a:r>
            <a:br/>
            <a:r>
              <a:t>https://www.atlassian.com/blog/jira-align/bringing-agility-to-project-mgmt</a:t>
            </a:r>
          </a:p>
        </p:txBody>
      </p:sp>
      <p:sp>
        <p:nvSpPr>
          <p:cNvPr id="4" name="text-3">
            <a:extLst>
              <a:ext uri="{FF2B5EF4-FFF2-40B4-BE49-F238E27FC236}">
                <a16:creationId xmlns:a16="http://schemas.microsoft.com/office/drawing/2014/main" id="{8EA14F47-BEB7-4E02-B8FF-C0DC0B444D6E}"/>
              </a:ext>
            </a:extLst>
          </p:cNvPr>
          <p:cNvSpPr>
            <a:spLocks noGrp="1"/>
          </p:cNvSpPr>
          <p:nvPr/>
        </p:nvSpPr>
        <p:spPr>
          <a:xfrm>
            <a:off x="609600" y="4667250"/>
            <a:ext cx="10972800" cy="1257300"/>
          </a:xfrm>
          <a:prstGeom prst="rect">
            <a:avLst/>
          </a:prstGeom>
          <a:noFill/>
          <a:ln w="0">
            <a:noFill/>
            <a:prstDash val="solid"/>
          </a:ln>
        </p:spPr>
        <p:txBody>
          <a:bodyPr lIns="0" tIns="0" rIns="0" bIns="0"/>
          <a:lstStyle>
            <a:defPPr>
              <a:defRPr sz="1650" b="0">
                <a:solidFill>
                  <a:srgbClr val="142B3B"/>
                </a:solidFill>
                <a:latin typeface="DejaVu Sans"/>
                <a:ea typeface="DejaVu Sans"/>
                <a:cs typeface="DejaVu Sans"/>
              </a:defRPr>
            </a:defPPr>
            <a:lvl1pPr>
              <a:defRPr sz="1650" b="0">
                <a:solidFill>
                  <a:srgbClr val="142B3B"/>
                </a:solidFill>
                <a:latin typeface="DejaVu Sans"/>
                <a:ea typeface="DejaVu Sans"/>
                <a:cs typeface="DejaVu Sans"/>
              </a:defRPr>
            </a:lvl1pPr>
            <a:lvl2pPr>
              <a:defRPr sz="1650" b="0">
                <a:solidFill>
                  <a:srgbClr val="142B3B"/>
                </a:solidFill>
                <a:latin typeface="DejaVu Sans"/>
                <a:ea typeface="DejaVu Sans"/>
                <a:cs typeface="DejaVu Sans"/>
              </a:defRPr>
            </a:lvl2pPr>
            <a:lvl3pPr>
              <a:defRPr sz="1650" b="0">
                <a:solidFill>
                  <a:srgbClr val="142B3B"/>
                </a:solidFill>
                <a:latin typeface="DejaVu Sans"/>
                <a:ea typeface="DejaVu Sans"/>
                <a:cs typeface="DejaVu Sans"/>
              </a:defRPr>
            </a:lvl3pPr>
            <a:lvl4pPr>
              <a:defRPr sz="1650" b="0">
                <a:solidFill>
                  <a:srgbClr val="142B3B"/>
                </a:solidFill>
                <a:latin typeface="DejaVu Sans"/>
                <a:ea typeface="DejaVu Sans"/>
                <a:cs typeface="DejaVu Sans"/>
              </a:defRPr>
            </a:lvl4pPr>
            <a:lvl5pPr>
              <a:defRPr sz="1650" b="0">
                <a:solidFill>
                  <a:srgbClr val="142B3B"/>
                </a:solidFill>
                <a:latin typeface="DejaVu Sans"/>
                <a:ea typeface="DejaVu Sans"/>
                <a:cs typeface="DejaVu Sans"/>
              </a:defRPr>
            </a:lvl5pPr>
            <a:lvl6pPr>
              <a:defRPr sz="1650" b="0">
                <a:solidFill>
                  <a:srgbClr val="142B3B"/>
                </a:solidFill>
                <a:latin typeface="DejaVu Sans"/>
                <a:ea typeface="DejaVu Sans"/>
                <a:cs typeface="DejaVu Sans"/>
              </a:defRPr>
            </a:lvl6pPr>
            <a:lvl7pPr>
              <a:defRPr sz="1650" b="0">
                <a:solidFill>
                  <a:srgbClr val="142B3B"/>
                </a:solidFill>
                <a:latin typeface="DejaVu Sans"/>
                <a:ea typeface="DejaVu Sans"/>
                <a:cs typeface="DejaVu Sans"/>
              </a:defRPr>
            </a:lvl7pPr>
            <a:lvl8pPr>
              <a:defRPr sz="1650" b="0">
                <a:solidFill>
                  <a:srgbClr val="142B3B"/>
                </a:solidFill>
                <a:latin typeface="DejaVu Sans"/>
                <a:ea typeface="DejaVu Sans"/>
                <a:cs typeface="DejaVu Sans"/>
              </a:defRPr>
            </a:lvl8pPr>
            <a:lvl9pPr>
              <a:defRPr sz="1650" b="0">
                <a:solidFill>
                  <a:srgbClr val="142B3B"/>
                </a:solidFill>
                <a:latin typeface="DejaVu Sans"/>
                <a:ea typeface="DejaVu Sans"/>
                <a:cs typeface="DejaVu Sans"/>
              </a:defRPr>
            </a:lvl9pPr>
          </a:lstStyle>
          <a:p>
            <a:pPr>
              <a:buNone/>
              <a:defRPr sz="1650" b="0">
                <a:solidFill>
                  <a:srgbClr val="142B3B"/>
                </a:solidFill>
                <a:latin typeface="DejaVu Sans"/>
                <a:ea typeface="DejaVu Sans"/>
                <a:cs typeface="DejaVu Sans"/>
              </a:defRPr>
            </a:pPr>
            <a:r>
              <a:t>Rahman, J. (2023, January 11). </a:t>
            </a:r>
            <a:r>
              <a:rPr i="1"/>
              <a:t>Uncovering the Product Owner role.</a:t>
            </a:r>
            <a:r>
              <a:t> Scrum.org.</a:t>
            </a:r>
            <a:br/>
            <a:r>
              <a:t>https://www.scrum.org/resources/blog/uncovering-product-owner-role</a:t>
            </a:r>
          </a:p>
        </p:txBody>
      </p:sp>
    </p:spTree>
    <p:extLst>
      <p:ext uri="{BB962C8B-B14F-4D97-AF65-F5344CB8AC3E}">
        <p14:creationId xmlns:p14="http://schemas.microsoft.com/office/powerpoint/2010/main" val="413974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279B8063-ECF1-49B3-B23C-ED9BE26D5683}"/>
              </a:ext>
            </a:extLst>
          </p:cNvPr>
          <p:cNvSpPr>
            <a:spLocks noGrp="1"/>
          </p:cNvSpPr>
          <p:nvPr/>
        </p:nvSpPr>
        <p:spPr>
          <a:xfrm>
            <a:off x="609600" y="438150"/>
            <a:ext cx="10972800" cy="857250"/>
          </a:xfrm>
          <a:prstGeom prst="rect">
            <a:avLst/>
          </a:prstGeom>
          <a:noFill/>
          <a:ln w="0">
            <a:noFill/>
            <a:prstDash val="solid"/>
          </a:ln>
        </p:spPr>
        <p:txBody>
          <a:bodyPr lIns="0" tIns="0" rIns="0" bIns="0"/>
          <a:lstStyle>
            <a:defPPr>
              <a:defRPr sz="3225" b="1">
                <a:solidFill>
                  <a:srgbClr val="142B3B"/>
                </a:solidFill>
                <a:latin typeface="DejaVu Sans"/>
                <a:ea typeface="DejaVu Sans"/>
                <a:cs typeface="DejaVu Sans"/>
              </a:defRPr>
            </a:defPPr>
            <a:lvl1pPr>
              <a:defRPr sz="3225" b="1">
                <a:solidFill>
                  <a:srgbClr val="142B3B"/>
                </a:solidFill>
                <a:latin typeface="DejaVu Sans"/>
                <a:ea typeface="DejaVu Sans"/>
                <a:cs typeface="DejaVu Sans"/>
              </a:defRPr>
            </a:lvl1pPr>
            <a:lvl2pPr>
              <a:defRPr sz="3225" b="1">
                <a:solidFill>
                  <a:srgbClr val="142B3B"/>
                </a:solidFill>
                <a:latin typeface="DejaVu Sans"/>
                <a:ea typeface="DejaVu Sans"/>
                <a:cs typeface="DejaVu Sans"/>
              </a:defRPr>
            </a:lvl2pPr>
            <a:lvl3pPr>
              <a:defRPr sz="3225" b="1">
                <a:solidFill>
                  <a:srgbClr val="142B3B"/>
                </a:solidFill>
                <a:latin typeface="DejaVu Sans"/>
                <a:ea typeface="DejaVu Sans"/>
                <a:cs typeface="DejaVu Sans"/>
              </a:defRPr>
            </a:lvl3pPr>
            <a:lvl4pPr>
              <a:defRPr sz="3225" b="1">
                <a:solidFill>
                  <a:srgbClr val="142B3B"/>
                </a:solidFill>
                <a:latin typeface="DejaVu Sans"/>
                <a:ea typeface="DejaVu Sans"/>
                <a:cs typeface="DejaVu Sans"/>
              </a:defRPr>
            </a:lvl4pPr>
            <a:lvl5pPr>
              <a:defRPr sz="3225" b="1">
                <a:solidFill>
                  <a:srgbClr val="142B3B"/>
                </a:solidFill>
                <a:latin typeface="DejaVu Sans"/>
                <a:ea typeface="DejaVu Sans"/>
                <a:cs typeface="DejaVu Sans"/>
              </a:defRPr>
            </a:lvl5pPr>
            <a:lvl6pPr>
              <a:defRPr sz="3225" b="1">
                <a:solidFill>
                  <a:srgbClr val="142B3B"/>
                </a:solidFill>
                <a:latin typeface="DejaVu Sans"/>
                <a:ea typeface="DejaVu Sans"/>
                <a:cs typeface="DejaVu Sans"/>
              </a:defRPr>
            </a:lvl6pPr>
            <a:lvl7pPr>
              <a:defRPr sz="3225" b="1">
                <a:solidFill>
                  <a:srgbClr val="142B3B"/>
                </a:solidFill>
                <a:latin typeface="DejaVu Sans"/>
                <a:ea typeface="DejaVu Sans"/>
                <a:cs typeface="DejaVu Sans"/>
              </a:defRPr>
            </a:lvl7pPr>
            <a:lvl8pPr>
              <a:defRPr sz="3225" b="1">
                <a:solidFill>
                  <a:srgbClr val="142B3B"/>
                </a:solidFill>
                <a:latin typeface="DejaVu Sans"/>
                <a:ea typeface="DejaVu Sans"/>
                <a:cs typeface="DejaVu Sans"/>
              </a:defRPr>
            </a:lvl8pPr>
            <a:lvl9pPr>
              <a:defRPr sz="3225" b="1">
                <a:solidFill>
                  <a:srgbClr val="142B3B"/>
                </a:solidFill>
                <a:latin typeface="DejaVu Sans"/>
                <a:ea typeface="DejaVu Sans"/>
                <a:cs typeface="DejaVu Sans"/>
              </a:defRPr>
            </a:lvl9pPr>
          </a:lstStyle>
          <a:p>
            <a:pPr>
              <a:buNone/>
              <a:defRPr sz="3225" b="1">
                <a:solidFill>
                  <a:srgbClr val="142B3B"/>
                </a:solidFill>
                <a:latin typeface="DejaVu Sans"/>
                <a:ea typeface="DejaVu Sans"/>
                <a:cs typeface="DejaVu Sans"/>
              </a:defRPr>
            </a:pPr>
            <a:r>
              <a:rPr sz="3225" b="1">
                <a:solidFill>
                  <a:srgbClr val="142B3B"/>
                </a:solidFill>
                <a:latin typeface="DejaVu Sans"/>
                <a:ea typeface="DejaVu Sans"/>
                <a:cs typeface="DejaVu Sans"/>
              </a:rPr>
              <a:t>References continued</a:t>
            </a:r>
          </a:p>
        </p:txBody>
      </p:sp>
      <p:sp>
        <p:nvSpPr>
          <p:cNvPr id="2" name="text-1">
            <a:extLst>
              <a:ext uri="{FF2B5EF4-FFF2-40B4-BE49-F238E27FC236}">
                <a16:creationId xmlns:a16="http://schemas.microsoft.com/office/drawing/2014/main" id="{2D10EC91-FD50-41EC-820E-6FE16966FFE2}"/>
              </a:ext>
            </a:extLst>
          </p:cNvPr>
          <p:cNvSpPr>
            <a:spLocks noGrp="1"/>
          </p:cNvSpPr>
          <p:nvPr/>
        </p:nvSpPr>
        <p:spPr>
          <a:xfrm>
            <a:off x="609600" y="1428750"/>
            <a:ext cx="10972800" cy="1257300"/>
          </a:xfrm>
          <a:prstGeom prst="rect">
            <a:avLst/>
          </a:prstGeom>
          <a:noFill/>
          <a:ln w="0">
            <a:noFill/>
            <a:prstDash val="solid"/>
          </a:ln>
        </p:spPr>
        <p:txBody>
          <a:bodyPr lIns="0" tIns="0" rIns="0" bIns="0"/>
          <a:lstStyle>
            <a:defPPr>
              <a:defRPr sz="1650" b="0">
                <a:solidFill>
                  <a:srgbClr val="142B3B"/>
                </a:solidFill>
                <a:latin typeface="DejaVu Sans"/>
                <a:ea typeface="DejaVu Sans"/>
                <a:cs typeface="DejaVu Sans"/>
              </a:defRPr>
            </a:defPPr>
            <a:lvl1pPr>
              <a:defRPr sz="1650" b="0">
                <a:solidFill>
                  <a:srgbClr val="142B3B"/>
                </a:solidFill>
                <a:latin typeface="DejaVu Sans"/>
                <a:ea typeface="DejaVu Sans"/>
                <a:cs typeface="DejaVu Sans"/>
              </a:defRPr>
            </a:lvl1pPr>
            <a:lvl2pPr>
              <a:defRPr sz="1650" b="0">
                <a:solidFill>
                  <a:srgbClr val="142B3B"/>
                </a:solidFill>
                <a:latin typeface="DejaVu Sans"/>
                <a:ea typeface="DejaVu Sans"/>
                <a:cs typeface="DejaVu Sans"/>
              </a:defRPr>
            </a:lvl2pPr>
            <a:lvl3pPr>
              <a:defRPr sz="1650" b="0">
                <a:solidFill>
                  <a:srgbClr val="142B3B"/>
                </a:solidFill>
                <a:latin typeface="DejaVu Sans"/>
                <a:ea typeface="DejaVu Sans"/>
                <a:cs typeface="DejaVu Sans"/>
              </a:defRPr>
            </a:lvl3pPr>
            <a:lvl4pPr>
              <a:defRPr sz="1650" b="0">
                <a:solidFill>
                  <a:srgbClr val="142B3B"/>
                </a:solidFill>
                <a:latin typeface="DejaVu Sans"/>
                <a:ea typeface="DejaVu Sans"/>
                <a:cs typeface="DejaVu Sans"/>
              </a:defRPr>
            </a:lvl4pPr>
            <a:lvl5pPr>
              <a:defRPr sz="1650" b="0">
                <a:solidFill>
                  <a:srgbClr val="142B3B"/>
                </a:solidFill>
                <a:latin typeface="DejaVu Sans"/>
                <a:ea typeface="DejaVu Sans"/>
                <a:cs typeface="DejaVu Sans"/>
              </a:defRPr>
            </a:lvl5pPr>
            <a:lvl6pPr>
              <a:defRPr sz="1650" b="0">
                <a:solidFill>
                  <a:srgbClr val="142B3B"/>
                </a:solidFill>
                <a:latin typeface="DejaVu Sans"/>
                <a:ea typeface="DejaVu Sans"/>
                <a:cs typeface="DejaVu Sans"/>
              </a:defRPr>
            </a:lvl6pPr>
            <a:lvl7pPr>
              <a:defRPr sz="1650" b="0">
                <a:solidFill>
                  <a:srgbClr val="142B3B"/>
                </a:solidFill>
                <a:latin typeface="DejaVu Sans"/>
                <a:ea typeface="DejaVu Sans"/>
                <a:cs typeface="DejaVu Sans"/>
              </a:defRPr>
            </a:lvl7pPr>
            <a:lvl8pPr>
              <a:defRPr sz="1650" b="0">
                <a:solidFill>
                  <a:srgbClr val="142B3B"/>
                </a:solidFill>
                <a:latin typeface="DejaVu Sans"/>
                <a:ea typeface="DejaVu Sans"/>
                <a:cs typeface="DejaVu Sans"/>
              </a:defRPr>
            </a:lvl8pPr>
            <a:lvl9pPr>
              <a:defRPr sz="1650" b="0">
                <a:solidFill>
                  <a:srgbClr val="142B3B"/>
                </a:solidFill>
                <a:latin typeface="DejaVu Sans"/>
                <a:ea typeface="DejaVu Sans"/>
                <a:cs typeface="DejaVu Sans"/>
              </a:defRPr>
            </a:lvl9pPr>
          </a:lstStyle>
          <a:p>
            <a:pPr>
              <a:buNone/>
              <a:defRPr sz="1650" b="0">
                <a:solidFill>
                  <a:srgbClr val="142B3B"/>
                </a:solidFill>
                <a:latin typeface="DejaVu Sans"/>
                <a:ea typeface="DejaVu Sans"/>
                <a:cs typeface="DejaVu Sans"/>
              </a:defRPr>
            </a:pPr>
            <a:r>
              <a:t>Ripley, R. (2024, September 23). </a:t>
            </a:r>
            <a:r>
              <a:rPr i="1"/>
              <a:t>Scrum is hard and disruptive #11: Scrum is harder than waterfall.</a:t>
            </a:r>
            <a:r>
              <a:t> Scrum.org.</a:t>
            </a:r>
            <a:br/>
            <a:r>
              <a:t>https://www.scrum.org/resources/blog/scrum-hard-and-disruptive-11-scrum-harder-waterfall</a:t>
            </a:r>
          </a:p>
        </p:txBody>
      </p:sp>
      <p:sp>
        <p:nvSpPr>
          <p:cNvPr id="3" name="text-2">
            <a:extLst>
              <a:ext uri="{FF2B5EF4-FFF2-40B4-BE49-F238E27FC236}">
                <a16:creationId xmlns:a16="http://schemas.microsoft.com/office/drawing/2014/main" id="{A810A07B-0AB8-4389-A302-D298A7B75737}"/>
              </a:ext>
            </a:extLst>
          </p:cNvPr>
          <p:cNvSpPr>
            <a:spLocks noGrp="1"/>
          </p:cNvSpPr>
          <p:nvPr/>
        </p:nvSpPr>
        <p:spPr>
          <a:xfrm>
            <a:off x="609600" y="3143250"/>
            <a:ext cx="10972800" cy="1257300"/>
          </a:xfrm>
          <a:prstGeom prst="rect">
            <a:avLst/>
          </a:prstGeom>
          <a:noFill/>
          <a:ln w="0">
            <a:noFill/>
            <a:prstDash val="solid"/>
          </a:ln>
        </p:spPr>
        <p:txBody>
          <a:bodyPr lIns="0" tIns="0" rIns="0" bIns="0"/>
          <a:lstStyle>
            <a:defPPr>
              <a:defRPr sz="1650" b="0">
                <a:solidFill>
                  <a:srgbClr val="142B3B"/>
                </a:solidFill>
                <a:latin typeface="DejaVu Sans"/>
                <a:ea typeface="DejaVu Sans"/>
                <a:cs typeface="DejaVu Sans"/>
              </a:defRPr>
            </a:defPPr>
            <a:lvl1pPr>
              <a:defRPr sz="1650" b="0">
                <a:solidFill>
                  <a:srgbClr val="142B3B"/>
                </a:solidFill>
                <a:latin typeface="DejaVu Sans"/>
                <a:ea typeface="DejaVu Sans"/>
                <a:cs typeface="DejaVu Sans"/>
              </a:defRPr>
            </a:lvl1pPr>
            <a:lvl2pPr>
              <a:defRPr sz="1650" b="0">
                <a:solidFill>
                  <a:srgbClr val="142B3B"/>
                </a:solidFill>
                <a:latin typeface="DejaVu Sans"/>
                <a:ea typeface="DejaVu Sans"/>
                <a:cs typeface="DejaVu Sans"/>
              </a:defRPr>
            </a:lvl2pPr>
            <a:lvl3pPr>
              <a:defRPr sz="1650" b="0">
                <a:solidFill>
                  <a:srgbClr val="142B3B"/>
                </a:solidFill>
                <a:latin typeface="DejaVu Sans"/>
                <a:ea typeface="DejaVu Sans"/>
                <a:cs typeface="DejaVu Sans"/>
              </a:defRPr>
            </a:lvl3pPr>
            <a:lvl4pPr>
              <a:defRPr sz="1650" b="0">
                <a:solidFill>
                  <a:srgbClr val="142B3B"/>
                </a:solidFill>
                <a:latin typeface="DejaVu Sans"/>
                <a:ea typeface="DejaVu Sans"/>
                <a:cs typeface="DejaVu Sans"/>
              </a:defRPr>
            </a:lvl4pPr>
            <a:lvl5pPr>
              <a:defRPr sz="1650" b="0">
                <a:solidFill>
                  <a:srgbClr val="142B3B"/>
                </a:solidFill>
                <a:latin typeface="DejaVu Sans"/>
                <a:ea typeface="DejaVu Sans"/>
                <a:cs typeface="DejaVu Sans"/>
              </a:defRPr>
            </a:lvl5pPr>
            <a:lvl6pPr>
              <a:defRPr sz="1650" b="0">
                <a:solidFill>
                  <a:srgbClr val="142B3B"/>
                </a:solidFill>
                <a:latin typeface="DejaVu Sans"/>
                <a:ea typeface="DejaVu Sans"/>
                <a:cs typeface="DejaVu Sans"/>
              </a:defRPr>
            </a:lvl6pPr>
            <a:lvl7pPr>
              <a:defRPr sz="1650" b="0">
                <a:solidFill>
                  <a:srgbClr val="142B3B"/>
                </a:solidFill>
                <a:latin typeface="DejaVu Sans"/>
                <a:ea typeface="DejaVu Sans"/>
                <a:cs typeface="DejaVu Sans"/>
              </a:defRPr>
            </a:lvl7pPr>
            <a:lvl8pPr>
              <a:defRPr sz="1650" b="0">
                <a:solidFill>
                  <a:srgbClr val="142B3B"/>
                </a:solidFill>
                <a:latin typeface="DejaVu Sans"/>
                <a:ea typeface="DejaVu Sans"/>
                <a:cs typeface="DejaVu Sans"/>
              </a:defRPr>
            </a:lvl8pPr>
            <a:lvl9pPr>
              <a:defRPr sz="1650" b="0">
                <a:solidFill>
                  <a:srgbClr val="142B3B"/>
                </a:solidFill>
                <a:latin typeface="DejaVu Sans"/>
                <a:ea typeface="DejaVu Sans"/>
                <a:cs typeface="DejaVu Sans"/>
              </a:defRPr>
            </a:lvl9pPr>
          </a:lstStyle>
          <a:p>
            <a:pPr>
              <a:buNone/>
              <a:defRPr sz="1650" b="0">
                <a:solidFill>
                  <a:srgbClr val="142B3B"/>
                </a:solidFill>
                <a:latin typeface="DejaVu Sans"/>
                <a:ea typeface="DejaVu Sans"/>
                <a:cs typeface="DejaVu Sans"/>
              </a:defRPr>
            </a:pPr>
            <a:r>
              <a:t>Schwaber, K., &amp; Sutherland, J. (2020, November). </a:t>
            </a:r>
            <a:r>
              <a:rPr i="1"/>
              <a:t>The Scrum guide: The definitive guide to Scrum: The rules of the game.</a:t>
            </a:r>
            <a:br/>
            <a:r>
              <a:t>https://scrumguides.org/scrum-guide.html</a:t>
            </a:r>
          </a:p>
        </p:txBody>
      </p:sp>
      <p:sp>
        <p:nvSpPr>
          <p:cNvPr id="4" name="text-3">
            <a:extLst>
              <a:ext uri="{FF2B5EF4-FFF2-40B4-BE49-F238E27FC236}">
                <a16:creationId xmlns:a16="http://schemas.microsoft.com/office/drawing/2014/main" id="{12D43E0B-5ECA-4B7E-9026-D77B5B7BAD03}"/>
              </a:ext>
            </a:extLst>
          </p:cNvPr>
          <p:cNvSpPr>
            <a:spLocks noGrp="1"/>
          </p:cNvSpPr>
          <p:nvPr/>
        </p:nvSpPr>
        <p:spPr>
          <a:xfrm>
            <a:off x="609600" y="4857750"/>
            <a:ext cx="10972800" cy="1257300"/>
          </a:xfrm>
          <a:prstGeom prst="rect">
            <a:avLst/>
          </a:prstGeom>
          <a:noFill/>
          <a:ln w="0">
            <a:noFill/>
            <a:prstDash val="solid"/>
          </a:ln>
        </p:spPr>
        <p:txBody>
          <a:bodyPr lIns="0" tIns="0" rIns="0" bIns="0"/>
          <a:lstStyle>
            <a:defPPr>
              <a:defRPr sz="1650" b="0">
                <a:solidFill>
                  <a:srgbClr val="142B3B"/>
                </a:solidFill>
                <a:latin typeface="DejaVu Sans"/>
                <a:ea typeface="DejaVu Sans"/>
                <a:cs typeface="DejaVu Sans"/>
              </a:defRPr>
            </a:defPPr>
            <a:lvl1pPr>
              <a:defRPr sz="1650" b="0">
                <a:solidFill>
                  <a:srgbClr val="142B3B"/>
                </a:solidFill>
                <a:latin typeface="DejaVu Sans"/>
                <a:ea typeface="DejaVu Sans"/>
                <a:cs typeface="DejaVu Sans"/>
              </a:defRPr>
            </a:lvl1pPr>
            <a:lvl2pPr>
              <a:defRPr sz="1650" b="0">
                <a:solidFill>
                  <a:srgbClr val="142B3B"/>
                </a:solidFill>
                <a:latin typeface="DejaVu Sans"/>
                <a:ea typeface="DejaVu Sans"/>
                <a:cs typeface="DejaVu Sans"/>
              </a:defRPr>
            </a:lvl2pPr>
            <a:lvl3pPr>
              <a:defRPr sz="1650" b="0">
                <a:solidFill>
                  <a:srgbClr val="142B3B"/>
                </a:solidFill>
                <a:latin typeface="DejaVu Sans"/>
                <a:ea typeface="DejaVu Sans"/>
                <a:cs typeface="DejaVu Sans"/>
              </a:defRPr>
            </a:lvl3pPr>
            <a:lvl4pPr>
              <a:defRPr sz="1650" b="0">
                <a:solidFill>
                  <a:srgbClr val="142B3B"/>
                </a:solidFill>
                <a:latin typeface="DejaVu Sans"/>
                <a:ea typeface="DejaVu Sans"/>
                <a:cs typeface="DejaVu Sans"/>
              </a:defRPr>
            </a:lvl4pPr>
            <a:lvl5pPr>
              <a:defRPr sz="1650" b="0">
                <a:solidFill>
                  <a:srgbClr val="142B3B"/>
                </a:solidFill>
                <a:latin typeface="DejaVu Sans"/>
                <a:ea typeface="DejaVu Sans"/>
                <a:cs typeface="DejaVu Sans"/>
              </a:defRPr>
            </a:lvl5pPr>
            <a:lvl6pPr>
              <a:defRPr sz="1650" b="0">
                <a:solidFill>
                  <a:srgbClr val="142B3B"/>
                </a:solidFill>
                <a:latin typeface="DejaVu Sans"/>
                <a:ea typeface="DejaVu Sans"/>
                <a:cs typeface="DejaVu Sans"/>
              </a:defRPr>
            </a:lvl6pPr>
            <a:lvl7pPr>
              <a:defRPr sz="1650" b="0">
                <a:solidFill>
                  <a:srgbClr val="142B3B"/>
                </a:solidFill>
                <a:latin typeface="DejaVu Sans"/>
                <a:ea typeface="DejaVu Sans"/>
                <a:cs typeface="DejaVu Sans"/>
              </a:defRPr>
            </a:lvl7pPr>
            <a:lvl8pPr>
              <a:defRPr sz="1650" b="0">
                <a:solidFill>
                  <a:srgbClr val="142B3B"/>
                </a:solidFill>
                <a:latin typeface="DejaVu Sans"/>
                <a:ea typeface="DejaVu Sans"/>
                <a:cs typeface="DejaVu Sans"/>
              </a:defRPr>
            </a:lvl8pPr>
            <a:lvl9pPr>
              <a:defRPr sz="1650" b="0">
                <a:solidFill>
                  <a:srgbClr val="142B3B"/>
                </a:solidFill>
                <a:latin typeface="DejaVu Sans"/>
                <a:ea typeface="DejaVu Sans"/>
                <a:cs typeface="DejaVu Sans"/>
              </a:defRPr>
            </a:lvl9pPr>
          </a:lstStyle>
          <a:p>
            <a:pPr>
              <a:buNone/>
              <a:defRPr sz="1650" b="0">
                <a:solidFill>
                  <a:srgbClr val="142B3B"/>
                </a:solidFill>
                <a:latin typeface="DejaVu Sans"/>
                <a:ea typeface="DejaVu Sans"/>
                <a:cs typeface="DejaVu Sans"/>
              </a:defRPr>
            </a:pPr>
            <a:r>
              <a:t>Strombeck, O. (2023, November 30). </a:t>
            </a:r>
            <a:r>
              <a:rPr i="1"/>
              <a:t>Navigating the Scrum events: Daily Scrum.</a:t>
            </a:r>
            <a:r>
              <a:t> Scrum.org.</a:t>
            </a:r>
            <a:br/>
            <a:r>
              <a:t>https://www.scrum.org/resources/blog/navigating-scrum-events-daily-scrum</a:t>
            </a:r>
          </a:p>
        </p:txBody>
      </p:sp>
    </p:spTree>
    <p:extLst>
      <p:ext uri="{BB962C8B-B14F-4D97-AF65-F5344CB8AC3E}">
        <p14:creationId xmlns:p14="http://schemas.microsoft.com/office/powerpoint/2010/main" val="1042426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Dune</Template>
  <TotalTime>20</TotalTime>
  <Words>2034</Words>
  <Application>Microsoft Office PowerPoint</Application>
  <PresentationFormat>Widescreen</PresentationFormat>
  <Paragraphs>129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DejaVu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Silva</dc:creator>
  <cp:lastModifiedBy>Paul Silva</cp:lastModifiedBy>
  <cp:revision>1</cp:revision>
  <dcterms:created xsi:type="dcterms:W3CDTF">2026-10-18T15:23:44Z</dcterms:created>
  <dcterms:modified xsi:type="dcterms:W3CDTF">2026-10-18T15:43:52Z</dcterms:modified>
</cp:coreProperties>
</file>